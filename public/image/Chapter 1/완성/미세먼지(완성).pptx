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7" r:id="rId5"/>
    <p:sldId id="258" r:id="rId6"/>
    <p:sldId id="259" r:id="rId7"/>
    <p:sldId id="262" r:id="rId8"/>
    <p:sldId id="263" r:id="rId9"/>
    <p:sldId id="260" r:id="rId10"/>
    <p:sldId id="261" r:id="rId11"/>
  </p:sldIdLst>
  <p:sldSz cx="12188825" cy="6858000"/>
  <p:notesSz cx="6858000" cy="9144000"/>
  <p:custShowLst>
    <p:custShow name="발표" id="0">
      <p:sldLst>
        <p:sld r:id="rId5"/>
        <p:sld r:id="rId6"/>
        <p:sld r:id="rId7"/>
        <p:sld r:id="rId8"/>
        <p:sld r:id="rId11"/>
      </p:sldLst>
    </p:custShow>
  </p:custShowLst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BD2806D-7FA7-4E71-BAC0-393A619AC7A4}">
          <p14:sldIdLst>
            <p14:sldId id="257"/>
          </p14:sldIdLst>
        </p14:section>
        <p14:section name="미세먼지 개요" id="{B8F1232F-1896-4E67-880B-BACC53133443}">
          <p14:sldIdLst>
            <p14:sldId id="258"/>
            <p14:sldId id="259"/>
          </p14:sldIdLst>
        </p14:section>
        <p14:section name="미세먼지 발생" id="{54870940-D08A-455E-9B0B-56B123EC9E22}">
          <p14:sldIdLst>
            <p14:sldId id="262"/>
            <p14:sldId id="263"/>
          </p14:sldIdLst>
        </p14:section>
        <p14:section name="미세먼지 등급" id="{A127244F-4984-400F-8AC8-550AC7A87AD6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9" autoAdjust="0"/>
    <p:restoredTop sz="80738" autoAdjust="0"/>
  </p:normalViewPr>
  <p:slideViewPr>
    <p:cSldViewPr>
      <p:cViewPr varScale="1">
        <p:scale>
          <a:sx n="61" d="100"/>
          <a:sy n="61" d="100"/>
        </p:scale>
        <p:origin x="72" y="438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1764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36"/>
    </mc:Choice>
    <mc:Fallback>
      <c:style val="36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환자 수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latin typeface="돋움" panose="020B0600000101010101" pitchFamily="50" charset="-127"/>
                    <a:ea typeface="돋움" panose="020B0600000101010101" pitchFamily="50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2012년</c:v>
                </c:pt>
                <c:pt idx="1">
                  <c:v>2013년</c:v>
                </c:pt>
                <c:pt idx="2">
                  <c:v>2014년</c:v>
                </c:pt>
                <c:pt idx="3">
                  <c:v>2015년</c:v>
                </c:pt>
                <c:pt idx="4">
                  <c:v>2016년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37190</c:v>
                </c:pt>
                <c:pt idx="1">
                  <c:v>36539</c:v>
                </c:pt>
                <c:pt idx="2">
                  <c:v>38451</c:v>
                </c:pt>
                <c:pt idx="3">
                  <c:v>39839</c:v>
                </c:pt>
                <c:pt idx="4">
                  <c:v>42087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B5-4F90-A5C6-24F7FC5184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3463936"/>
        <c:axId val="143465472"/>
      </c:lineChart>
      <c:catAx>
        <c:axId val="1434639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 b="1">
                <a:latin typeface="돋움" pitchFamily="50" charset="-127"/>
                <a:ea typeface="돋움" pitchFamily="50" charset="-127"/>
              </a:defRPr>
            </a:pPr>
            <a:endParaRPr lang="ko-KR"/>
          </a:p>
        </c:txPr>
        <c:crossAx val="143465472"/>
        <c:crosses val="autoZero"/>
        <c:auto val="1"/>
        <c:lblAlgn val="ctr"/>
        <c:lblOffset val="100"/>
        <c:noMultiLvlLbl val="0"/>
      </c:catAx>
      <c:valAx>
        <c:axId val="14346547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600" b="1">
                <a:latin typeface="돋움" pitchFamily="50" charset="-127"/>
                <a:ea typeface="돋움" pitchFamily="50" charset="-127"/>
              </a:defRPr>
            </a:pPr>
            <a:endParaRPr lang="ko-KR"/>
          </a:p>
        </c:txPr>
        <c:crossAx val="143463936"/>
        <c:crosses val="autoZero"/>
        <c:crossBetween val="between"/>
      </c:valAx>
    </c:plotArea>
    <c:legend>
      <c:legendPos val="r"/>
      <c:overlay val="0"/>
      <c:txPr>
        <a:bodyPr/>
        <a:lstStyle/>
        <a:p>
          <a:pPr>
            <a:defRPr b="1">
              <a:latin typeface="궁서체" panose="02030609000101010101" pitchFamily="17" charset="-127"/>
              <a:ea typeface="궁서체" panose="02030609000101010101" pitchFamily="17" charset="-127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F06097-4551-4F5C-AE65-FD3BDB518B17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73DA6884-F7C8-4B9B-A6D1-05FB14C1DD67}">
      <dgm:prSet phldrT="[텍스트]"/>
      <dgm:spPr/>
      <dgm:t>
        <a:bodyPr/>
        <a:lstStyle/>
        <a:p>
          <a:pPr latinLnBrk="1"/>
          <a:r>
            <a:rPr lang="ko-KR" altLang="en-US" dirty="0"/>
            <a:t>미세먼지</a:t>
          </a:r>
        </a:p>
      </dgm:t>
    </dgm:pt>
    <dgm:pt modelId="{2A1A41AB-8A5C-45E1-BC4E-9DF44A2C8BC6}" type="parTrans" cxnId="{A60AC179-77C4-4F8E-9165-A38238D90ADE}">
      <dgm:prSet/>
      <dgm:spPr/>
      <dgm:t>
        <a:bodyPr/>
        <a:lstStyle/>
        <a:p>
          <a:pPr latinLnBrk="1"/>
          <a:endParaRPr lang="ko-KR" altLang="en-US"/>
        </a:p>
      </dgm:t>
    </dgm:pt>
    <dgm:pt modelId="{FEFC391B-C155-4B12-8F4C-4E448B353222}" type="sibTrans" cxnId="{A60AC179-77C4-4F8E-9165-A38238D90ADE}">
      <dgm:prSet/>
      <dgm:spPr/>
      <dgm:t>
        <a:bodyPr/>
        <a:lstStyle/>
        <a:p>
          <a:pPr latinLnBrk="1"/>
          <a:endParaRPr lang="ko-KR" altLang="en-US"/>
        </a:p>
      </dgm:t>
    </dgm:pt>
    <dgm:pt modelId="{83AD0DF0-0765-4974-92D5-C324F4FB44B9}">
      <dgm:prSet phldrT="[텍스트]"/>
      <dgm:spPr/>
      <dgm:t>
        <a:bodyPr/>
        <a:lstStyle/>
        <a:p>
          <a:pPr latinLnBrk="1"/>
          <a:r>
            <a:rPr lang="ko-KR" altLang="en-US" dirty="0"/>
            <a:t>산업시설의 공장연기</a:t>
          </a:r>
        </a:p>
      </dgm:t>
    </dgm:pt>
    <dgm:pt modelId="{DBC0B4D4-DDB7-4E8A-AD0B-9EEF34BC4862}" type="parTrans" cxnId="{412B6A72-FF43-4260-9CE6-B3D8C9C8A02C}">
      <dgm:prSet/>
      <dgm:spPr/>
      <dgm:t>
        <a:bodyPr/>
        <a:lstStyle/>
        <a:p>
          <a:pPr latinLnBrk="1"/>
          <a:endParaRPr lang="ko-KR" altLang="en-US"/>
        </a:p>
      </dgm:t>
    </dgm:pt>
    <dgm:pt modelId="{FCA4AF78-1336-4CB4-85F3-8709B23CDEEC}" type="sibTrans" cxnId="{412B6A72-FF43-4260-9CE6-B3D8C9C8A02C}">
      <dgm:prSet/>
      <dgm:spPr/>
      <dgm:t>
        <a:bodyPr/>
        <a:lstStyle/>
        <a:p>
          <a:pPr latinLnBrk="1"/>
          <a:endParaRPr lang="ko-KR" altLang="en-US"/>
        </a:p>
      </dgm:t>
    </dgm:pt>
    <dgm:pt modelId="{5C17B713-4B7C-4779-8D5B-F2BF5891171C}">
      <dgm:prSet phldrT="[텍스트]"/>
      <dgm:spPr/>
      <dgm:t>
        <a:bodyPr/>
        <a:lstStyle/>
        <a:p>
          <a:pPr latinLnBrk="1"/>
          <a:r>
            <a:rPr lang="ko-KR" altLang="en-US" dirty="0"/>
            <a:t>자동차 배출가스</a:t>
          </a:r>
        </a:p>
      </dgm:t>
    </dgm:pt>
    <dgm:pt modelId="{BC98BBBD-A42C-4327-8E61-D1FDFA8320A7}" type="parTrans" cxnId="{8AAAA7F3-A617-4440-9C83-DF4C89838ABD}">
      <dgm:prSet/>
      <dgm:spPr/>
      <dgm:t>
        <a:bodyPr/>
        <a:lstStyle/>
        <a:p>
          <a:pPr latinLnBrk="1"/>
          <a:endParaRPr lang="ko-KR" altLang="en-US"/>
        </a:p>
      </dgm:t>
    </dgm:pt>
    <dgm:pt modelId="{B55D19D5-9B9C-4675-8521-897F19851DC8}" type="sibTrans" cxnId="{8AAAA7F3-A617-4440-9C83-DF4C89838ABD}">
      <dgm:prSet/>
      <dgm:spPr/>
      <dgm:t>
        <a:bodyPr/>
        <a:lstStyle/>
        <a:p>
          <a:pPr latinLnBrk="1"/>
          <a:endParaRPr lang="ko-KR" altLang="en-US"/>
        </a:p>
      </dgm:t>
    </dgm:pt>
    <dgm:pt modelId="{6506D7FD-5F7D-4B5D-BF80-1203F53CB742}">
      <dgm:prSet phldrT="[텍스트]"/>
      <dgm:spPr/>
      <dgm:t>
        <a:bodyPr/>
        <a:lstStyle/>
        <a:p>
          <a:pPr latinLnBrk="1"/>
          <a:r>
            <a:rPr lang="ko-KR" altLang="en-US" dirty="0"/>
            <a:t>봄철의 황사먼지</a:t>
          </a:r>
        </a:p>
      </dgm:t>
    </dgm:pt>
    <dgm:pt modelId="{4576C2E9-25E9-4F2F-8AAF-1B3A64EB2438}" type="parTrans" cxnId="{AFD024FE-DF48-4A79-8DDD-0AAD8FF7FE4C}">
      <dgm:prSet/>
      <dgm:spPr/>
      <dgm:t>
        <a:bodyPr/>
        <a:lstStyle/>
        <a:p>
          <a:pPr latinLnBrk="1"/>
          <a:endParaRPr lang="ko-KR" altLang="en-US"/>
        </a:p>
      </dgm:t>
    </dgm:pt>
    <dgm:pt modelId="{BF2FC445-AAB9-4888-BF04-8A023C72911E}" type="sibTrans" cxnId="{AFD024FE-DF48-4A79-8DDD-0AAD8FF7FE4C}">
      <dgm:prSet/>
      <dgm:spPr/>
      <dgm:t>
        <a:bodyPr/>
        <a:lstStyle/>
        <a:p>
          <a:pPr latinLnBrk="1"/>
          <a:endParaRPr lang="ko-KR" altLang="en-US"/>
        </a:p>
      </dgm:t>
    </dgm:pt>
    <dgm:pt modelId="{34FF163E-2634-4E03-B440-EB8C8367E7B4}">
      <dgm:prSet phldrT="[텍스트]"/>
      <dgm:spPr/>
      <dgm:t>
        <a:bodyPr/>
        <a:lstStyle/>
        <a:p>
          <a:pPr latinLnBrk="1"/>
          <a:r>
            <a:rPr lang="ko-KR" altLang="en-US" dirty="0"/>
            <a:t>아스팔트 비산먼지</a:t>
          </a:r>
        </a:p>
      </dgm:t>
    </dgm:pt>
    <dgm:pt modelId="{29BA75DE-6FB1-48E2-AD0E-AF9EBFC68D49}" type="parTrans" cxnId="{22A8098B-3C93-43E1-94CB-ADCDE2E79ADE}">
      <dgm:prSet/>
      <dgm:spPr/>
      <dgm:t>
        <a:bodyPr/>
        <a:lstStyle/>
        <a:p>
          <a:pPr latinLnBrk="1"/>
          <a:endParaRPr lang="ko-KR" altLang="en-US"/>
        </a:p>
      </dgm:t>
    </dgm:pt>
    <dgm:pt modelId="{21E25DF0-7F8F-40F3-96D9-D16EF3308537}" type="sibTrans" cxnId="{22A8098B-3C93-43E1-94CB-ADCDE2E79ADE}">
      <dgm:prSet/>
      <dgm:spPr/>
      <dgm:t>
        <a:bodyPr/>
        <a:lstStyle/>
        <a:p>
          <a:pPr latinLnBrk="1"/>
          <a:endParaRPr lang="ko-KR" altLang="en-US"/>
        </a:p>
      </dgm:t>
    </dgm:pt>
    <dgm:pt modelId="{B52197A1-00AF-4AE9-B559-08618E1D198E}" type="pres">
      <dgm:prSet presAssocID="{A9F06097-4551-4F5C-AE65-FD3BDB518B17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84E960F-03D3-42A8-9882-9E437150F40B}" type="pres">
      <dgm:prSet presAssocID="{A9F06097-4551-4F5C-AE65-FD3BDB518B17}" presName="matrix" presStyleCnt="0"/>
      <dgm:spPr/>
    </dgm:pt>
    <dgm:pt modelId="{A99D64C9-7E1D-43E6-9D49-BB8BFF74CAD5}" type="pres">
      <dgm:prSet presAssocID="{A9F06097-4551-4F5C-AE65-FD3BDB518B17}" presName="tile1" presStyleLbl="node1" presStyleIdx="0" presStyleCnt="4"/>
      <dgm:spPr/>
    </dgm:pt>
    <dgm:pt modelId="{32A1F166-47FB-4F08-81AA-3D3D7944D4F9}" type="pres">
      <dgm:prSet presAssocID="{A9F06097-4551-4F5C-AE65-FD3BDB518B17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25BCD44-C467-4D23-AD02-3A91FFC912B0}" type="pres">
      <dgm:prSet presAssocID="{A9F06097-4551-4F5C-AE65-FD3BDB518B17}" presName="tile2" presStyleLbl="node1" presStyleIdx="1" presStyleCnt="4"/>
      <dgm:spPr/>
    </dgm:pt>
    <dgm:pt modelId="{E56328B0-373A-4D1E-BB68-DB38A972324A}" type="pres">
      <dgm:prSet presAssocID="{A9F06097-4551-4F5C-AE65-FD3BDB518B17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9BEAECB-ACDA-4B31-8414-862B160EE2A6}" type="pres">
      <dgm:prSet presAssocID="{A9F06097-4551-4F5C-AE65-FD3BDB518B17}" presName="tile3" presStyleLbl="node1" presStyleIdx="2" presStyleCnt="4"/>
      <dgm:spPr/>
    </dgm:pt>
    <dgm:pt modelId="{58BD33AE-351C-4A12-992E-B834A149153F}" type="pres">
      <dgm:prSet presAssocID="{A9F06097-4551-4F5C-AE65-FD3BDB518B17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BD53D9D-2291-4741-99D5-86640428E3B9}" type="pres">
      <dgm:prSet presAssocID="{A9F06097-4551-4F5C-AE65-FD3BDB518B17}" presName="tile4" presStyleLbl="node1" presStyleIdx="3" presStyleCnt="4"/>
      <dgm:spPr/>
    </dgm:pt>
    <dgm:pt modelId="{794659D4-868D-4C32-84DE-52050C5A0BA3}" type="pres">
      <dgm:prSet presAssocID="{A9F06097-4551-4F5C-AE65-FD3BDB518B17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651154E5-E9A5-4ECD-9074-135AB064962B}" type="pres">
      <dgm:prSet presAssocID="{A9F06097-4551-4F5C-AE65-FD3BDB518B17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6D67F604-0BCE-4BAA-90D7-C48B21FD78F9}" type="presOf" srcId="{83AD0DF0-0765-4974-92D5-C324F4FB44B9}" destId="{A99D64C9-7E1D-43E6-9D49-BB8BFF74CAD5}" srcOrd="0" destOrd="0" presId="urn:microsoft.com/office/officeart/2005/8/layout/matrix1"/>
    <dgm:cxn modelId="{CFD30F0F-1FB8-4686-B5EA-51A500A9D620}" type="presOf" srcId="{5C17B713-4B7C-4779-8D5B-F2BF5891171C}" destId="{E56328B0-373A-4D1E-BB68-DB38A972324A}" srcOrd="1" destOrd="0" presId="urn:microsoft.com/office/officeart/2005/8/layout/matrix1"/>
    <dgm:cxn modelId="{D1D7900F-F869-44C3-B3B4-F9569694F2C5}" type="presOf" srcId="{73DA6884-F7C8-4B9B-A6D1-05FB14C1DD67}" destId="{651154E5-E9A5-4ECD-9074-135AB064962B}" srcOrd="0" destOrd="0" presId="urn:microsoft.com/office/officeart/2005/8/layout/matrix1"/>
    <dgm:cxn modelId="{9F4E0443-3355-46D6-AC8D-EB358A1521B7}" type="presOf" srcId="{5C17B713-4B7C-4779-8D5B-F2BF5891171C}" destId="{225BCD44-C467-4D23-AD02-3A91FFC912B0}" srcOrd="0" destOrd="0" presId="urn:microsoft.com/office/officeart/2005/8/layout/matrix1"/>
    <dgm:cxn modelId="{61BE344B-2653-4434-84A5-235E010DAC30}" type="presOf" srcId="{6506D7FD-5F7D-4B5D-BF80-1203F53CB742}" destId="{58BD33AE-351C-4A12-992E-B834A149153F}" srcOrd="1" destOrd="0" presId="urn:microsoft.com/office/officeart/2005/8/layout/matrix1"/>
    <dgm:cxn modelId="{412B6A72-FF43-4260-9CE6-B3D8C9C8A02C}" srcId="{73DA6884-F7C8-4B9B-A6D1-05FB14C1DD67}" destId="{83AD0DF0-0765-4974-92D5-C324F4FB44B9}" srcOrd="0" destOrd="0" parTransId="{DBC0B4D4-DDB7-4E8A-AD0B-9EEF34BC4862}" sibTransId="{FCA4AF78-1336-4CB4-85F3-8709B23CDEEC}"/>
    <dgm:cxn modelId="{A60AC179-77C4-4F8E-9165-A38238D90ADE}" srcId="{A9F06097-4551-4F5C-AE65-FD3BDB518B17}" destId="{73DA6884-F7C8-4B9B-A6D1-05FB14C1DD67}" srcOrd="0" destOrd="0" parTransId="{2A1A41AB-8A5C-45E1-BC4E-9DF44A2C8BC6}" sibTransId="{FEFC391B-C155-4B12-8F4C-4E448B353222}"/>
    <dgm:cxn modelId="{22A8098B-3C93-43E1-94CB-ADCDE2E79ADE}" srcId="{73DA6884-F7C8-4B9B-A6D1-05FB14C1DD67}" destId="{34FF163E-2634-4E03-B440-EB8C8367E7B4}" srcOrd="3" destOrd="0" parTransId="{29BA75DE-6FB1-48E2-AD0E-AF9EBFC68D49}" sibTransId="{21E25DF0-7F8F-40F3-96D9-D16EF3308537}"/>
    <dgm:cxn modelId="{1ABB6C8D-0CC4-4F10-A523-06578763602A}" type="presOf" srcId="{34FF163E-2634-4E03-B440-EB8C8367E7B4}" destId="{794659D4-868D-4C32-84DE-52050C5A0BA3}" srcOrd="1" destOrd="0" presId="urn:microsoft.com/office/officeart/2005/8/layout/matrix1"/>
    <dgm:cxn modelId="{B073D797-E276-41DC-B7BC-90E4083CF8EB}" type="presOf" srcId="{83AD0DF0-0765-4974-92D5-C324F4FB44B9}" destId="{32A1F166-47FB-4F08-81AA-3D3D7944D4F9}" srcOrd="1" destOrd="0" presId="urn:microsoft.com/office/officeart/2005/8/layout/matrix1"/>
    <dgm:cxn modelId="{BBCBC3D3-5B0A-48CB-A1BF-7EE28741667C}" type="presOf" srcId="{6506D7FD-5F7D-4B5D-BF80-1203F53CB742}" destId="{E9BEAECB-ACDA-4B31-8414-862B160EE2A6}" srcOrd="0" destOrd="0" presId="urn:microsoft.com/office/officeart/2005/8/layout/matrix1"/>
    <dgm:cxn modelId="{4C0BFBDD-B39B-48C2-9AD0-7666C4068DEA}" type="presOf" srcId="{A9F06097-4551-4F5C-AE65-FD3BDB518B17}" destId="{B52197A1-00AF-4AE9-B559-08618E1D198E}" srcOrd="0" destOrd="0" presId="urn:microsoft.com/office/officeart/2005/8/layout/matrix1"/>
    <dgm:cxn modelId="{8AAAA7F3-A617-4440-9C83-DF4C89838ABD}" srcId="{73DA6884-F7C8-4B9B-A6D1-05FB14C1DD67}" destId="{5C17B713-4B7C-4779-8D5B-F2BF5891171C}" srcOrd="1" destOrd="0" parTransId="{BC98BBBD-A42C-4327-8E61-D1FDFA8320A7}" sibTransId="{B55D19D5-9B9C-4675-8521-897F19851DC8}"/>
    <dgm:cxn modelId="{AFD024FE-DF48-4A79-8DDD-0AAD8FF7FE4C}" srcId="{73DA6884-F7C8-4B9B-A6D1-05FB14C1DD67}" destId="{6506D7FD-5F7D-4B5D-BF80-1203F53CB742}" srcOrd="2" destOrd="0" parTransId="{4576C2E9-25E9-4F2F-8AAF-1B3A64EB2438}" sibTransId="{BF2FC445-AAB9-4888-BF04-8A023C72911E}"/>
    <dgm:cxn modelId="{974D7BFE-93FA-4BE9-BADF-8D4858B11F78}" type="presOf" srcId="{34FF163E-2634-4E03-B440-EB8C8367E7B4}" destId="{FBD53D9D-2291-4741-99D5-86640428E3B9}" srcOrd="0" destOrd="0" presId="urn:microsoft.com/office/officeart/2005/8/layout/matrix1"/>
    <dgm:cxn modelId="{6CDD849B-7FE8-4C8F-B923-33198D82AF1A}" type="presParOf" srcId="{B52197A1-00AF-4AE9-B559-08618E1D198E}" destId="{984E960F-03D3-42A8-9882-9E437150F40B}" srcOrd="0" destOrd="0" presId="urn:microsoft.com/office/officeart/2005/8/layout/matrix1"/>
    <dgm:cxn modelId="{EC92C33B-7588-4CC4-8BC2-87D546CAF22F}" type="presParOf" srcId="{984E960F-03D3-42A8-9882-9E437150F40B}" destId="{A99D64C9-7E1D-43E6-9D49-BB8BFF74CAD5}" srcOrd="0" destOrd="0" presId="urn:microsoft.com/office/officeart/2005/8/layout/matrix1"/>
    <dgm:cxn modelId="{E6D13095-BE48-4ABF-AD6D-037CA63B2AC2}" type="presParOf" srcId="{984E960F-03D3-42A8-9882-9E437150F40B}" destId="{32A1F166-47FB-4F08-81AA-3D3D7944D4F9}" srcOrd="1" destOrd="0" presId="urn:microsoft.com/office/officeart/2005/8/layout/matrix1"/>
    <dgm:cxn modelId="{F18308E4-86BC-4F80-989E-219AC402A4D8}" type="presParOf" srcId="{984E960F-03D3-42A8-9882-9E437150F40B}" destId="{225BCD44-C467-4D23-AD02-3A91FFC912B0}" srcOrd="2" destOrd="0" presId="urn:microsoft.com/office/officeart/2005/8/layout/matrix1"/>
    <dgm:cxn modelId="{42996E90-3553-44DA-9455-783B6D67ED08}" type="presParOf" srcId="{984E960F-03D3-42A8-9882-9E437150F40B}" destId="{E56328B0-373A-4D1E-BB68-DB38A972324A}" srcOrd="3" destOrd="0" presId="urn:microsoft.com/office/officeart/2005/8/layout/matrix1"/>
    <dgm:cxn modelId="{56479E3E-2E93-4DC1-905F-9547D59241C9}" type="presParOf" srcId="{984E960F-03D3-42A8-9882-9E437150F40B}" destId="{E9BEAECB-ACDA-4B31-8414-862B160EE2A6}" srcOrd="4" destOrd="0" presId="urn:microsoft.com/office/officeart/2005/8/layout/matrix1"/>
    <dgm:cxn modelId="{CBB7C6DE-BD27-4C21-9364-3C5F87FF2BEC}" type="presParOf" srcId="{984E960F-03D3-42A8-9882-9E437150F40B}" destId="{58BD33AE-351C-4A12-992E-B834A149153F}" srcOrd="5" destOrd="0" presId="urn:microsoft.com/office/officeart/2005/8/layout/matrix1"/>
    <dgm:cxn modelId="{E6FB7744-3ED1-4064-B0C5-51A324AE9794}" type="presParOf" srcId="{984E960F-03D3-42A8-9882-9E437150F40B}" destId="{FBD53D9D-2291-4741-99D5-86640428E3B9}" srcOrd="6" destOrd="0" presId="urn:microsoft.com/office/officeart/2005/8/layout/matrix1"/>
    <dgm:cxn modelId="{A23FFD07-4F22-43E2-9103-E5D0082151E8}" type="presParOf" srcId="{984E960F-03D3-42A8-9882-9E437150F40B}" destId="{794659D4-868D-4C32-84DE-52050C5A0BA3}" srcOrd="7" destOrd="0" presId="urn:microsoft.com/office/officeart/2005/8/layout/matrix1"/>
    <dgm:cxn modelId="{634C85FB-281E-4DD5-9A49-725897C1AA04}" type="presParOf" srcId="{B52197A1-00AF-4AE9-B559-08618E1D198E}" destId="{651154E5-E9A5-4ECD-9074-135AB064962B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9D64C9-7E1D-43E6-9D49-BB8BFF74CAD5}">
      <dsp:nvSpPr>
        <dsp:cNvPr id="0" name=""/>
        <dsp:cNvSpPr/>
      </dsp:nvSpPr>
      <dsp:spPr>
        <a:xfrm rot="16200000">
          <a:off x="1266055" y="-1266055"/>
          <a:ext cx="2028428" cy="4560539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 dirty="0"/>
            <a:t>산업시설의 공장연기</a:t>
          </a:r>
        </a:p>
      </dsp:txBody>
      <dsp:txXfrm rot="5400000">
        <a:off x="0" y="0"/>
        <a:ext cx="4560539" cy="1521321"/>
      </dsp:txXfrm>
    </dsp:sp>
    <dsp:sp modelId="{225BCD44-C467-4D23-AD02-3A91FFC912B0}">
      <dsp:nvSpPr>
        <dsp:cNvPr id="0" name=""/>
        <dsp:cNvSpPr/>
      </dsp:nvSpPr>
      <dsp:spPr>
        <a:xfrm>
          <a:off x="4560539" y="0"/>
          <a:ext cx="4560539" cy="2028428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 dirty="0"/>
            <a:t>자동차 배출가스</a:t>
          </a:r>
        </a:p>
      </dsp:txBody>
      <dsp:txXfrm>
        <a:off x="4560539" y="0"/>
        <a:ext cx="4560539" cy="1521321"/>
      </dsp:txXfrm>
    </dsp:sp>
    <dsp:sp modelId="{E9BEAECB-ACDA-4B31-8414-862B160EE2A6}">
      <dsp:nvSpPr>
        <dsp:cNvPr id="0" name=""/>
        <dsp:cNvSpPr/>
      </dsp:nvSpPr>
      <dsp:spPr>
        <a:xfrm rot="10800000">
          <a:off x="0" y="2028428"/>
          <a:ext cx="4560539" cy="2028428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 dirty="0"/>
            <a:t>봄철의 황사먼지</a:t>
          </a:r>
        </a:p>
      </dsp:txBody>
      <dsp:txXfrm rot="10800000">
        <a:off x="0" y="2535535"/>
        <a:ext cx="4560539" cy="1521321"/>
      </dsp:txXfrm>
    </dsp:sp>
    <dsp:sp modelId="{FBD53D9D-2291-4741-99D5-86640428E3B9}">
      <dsp:nvSpPr>
        <dsp:cNvPr id="0" name=""/>
        <dsp:cNvSpPr/>
      </dsp:nvSpPr>
      <dsp:spPr>
        <a:xfrm rot="5400000">
          <a:off x="5826595" y="762372"/>
          <a:ext cx="2028428" cy="4560539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 dirty="0"/>
            <a:t>아스팔트 비산먼지</a:t>
          </a:r>
        </a:p>
      </dsp:txBody>
      <dsp:txXfrm rot="-5400000">
        <a:off x="4560539" y="2535534"/>
        <a:ext cx="4560539" cy="1521321"/>
      </dsp:txXfrm>
    </dsp:sp>
    <dsp:sp modelId="{651154E5-E9A5-4ECD-9074-135AB064962B}">
      <dsp:nvSpPr>
        <dsp:cNvPr id="0" name=""/>
        <dsp:cNvSpPr/>
      </dsp:nvSpPr>
      <dsp:spPr>
        <a:xfrm>
          <a:off x="3192377" y="1521321"/>
          <a:ext cx="2736323" cy="1014214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 dirty="0"/>
            <a:t>미세먼지</a:t>
          </a:r>
        </a:p>
      </dsp:txBody>
      <dsp:txXfrm>
        <a:off x="3241887" y="1570831"/>
        <a:ext cx="2637303" cy="9151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0D44BC78-328C-4FDB-92DA-ECFAFE0EA2D3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2018-04-15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9C567D4A-04CB-4EDF-8FB1-342A02FC8EC5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algn="r" rtl="0"/>
              <a:t>‹#›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0125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68992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8-02-21T14:00:30.0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22418 15639 0,'-67'0'157,"1"0"-157,-33 0 15,33 0-15,0 0 16,-33 0-16,0 0 15,32 0-15,-32 0 16,-33 0-16,33 0 16,-133 0-16,166 0 15,-132-33-15,32 0 16,-32 33-16,99 0 16,-33 0-16,-1-66 15,-65 33-15,66 33 16,-1-33-16,34 33 15,-33-33-15,99 33 16,-66-34-16,66 34 16,-67-33-16,1 0 15,33 33-15,-33 0 16,0-66-16,66 33 16,-100 0-16,34 33 15,0-66-15,66 33 16,-66 0-1,33-33-15,33 66 16,-34-33-16,34 0 16,-33-34-16,33 34 15,-33-33 1,33 33-16,-33-33 16,33 33-16,0 0 15,0 0-15,0 0 16,0 0-1,33 0-15,-33 0 16,33 0 0,0-34-16,-34 1 15,34 33-15,0 0 16,0-33-16,0 0 16,0 33-1,0 0 1,0-33-16,0 33 15,0 0-15,0-67 16,34 34-16,-34 33 16,66-66-16,-33 33 15,66-33 1,-33-1-16,0 67 16,33-66-16,67 66 15,-100-33-15,33 33 16,0 33-16,0-33 15,-32-33-15,-1 66 32,463-66-17,-397 66-15,66 0 16,1 0-16,-34 0 16,-33 0-16,-33 0 15,34-66-15,65 66 16,-66-34-16,1 34 15,-1-33-15,33 0 16,1 33-16,65-66 16,-33 66-16,1 0 15,-34 0-15,33 0 16,1 0-16,-67 0 16,33 0-16,34 0 15,98 0-15,-131 0 16,65 0-16,-32 0 15,-34 0-15,-66 0 16,66 0-16,1 0 16,-1-33-16,66 33 15,-65 0-15,-34 33 16,166-33 0,-133 33-16,33 33 0,34-33 15,-1 34 1,1-1-16,-133-33 15,33 33-15,33-33 16,-98 0-16,-34 0 16,33-33-16,-33 33 15,33 0-15,0 0 16,-33 0-16,33 33 16,34-32-16,-34 32 15,-33-33-15,33 0 16,0 33-1,-33-66-15,-33 33 16,66-33-16,-33 66 16,0-66-1,-33 33-15,33 0 16,-33 0 15,33 33-15,-33-33-1,0 1-15,0-1 16,0 0-16,0 0 16,0 0-16,0 0 15,0 33 1,0-33 0,0 0-1,0 0-15,0 0 16,-33 0-1,33 0-15,-33 33 16,0-32-16,0-1 16,0 0-16,0 0 31,0 0-31,-33 0 16,0 0-16,-33 33 15,99-33-15,-67-33 16,34 0-16,0 33 15,0-33-15,0 33 16,0 0-16,-33 0 16,33-33-16,-66 0 15,-1 67-15,34-34 16,33-33-16,-33 0 16,-33 33-1,66-33-15,-66 33 16,0-33-1,-1 0 1,34 33-16,-33-33 0,0 33 16,33-33-1,0 33-15,-1-33 16,34 0-16,-66 33 16,66-33-16,-66 33 15,66-33-15,-66 0 16,-1 0-16,-32 33 15,66-33-15,-33 66 16,33-66-16,-33 0 16,65 0-16,-32 33 15,0-33-15,-33 0 16,0 0-16,33 0 16,-33 33-16,-1-33 15,1 66-15,66-66 16,-33 0-16,0 0 15,-33 0-15,32 0 16,1 0-16,-33 67 16,66-67-16,-33 0 15,33 0-15,-33 0 16,0 0 0,0 0-1,32 0-15,-32 0 16,0 0-16,33 0 15,0 0-15,0 0 16,0 0-16,0 0 16,0 0-16,-33 0 15,0 0 1,32 0-16,1 0 16,0 0-16,0 0 15,0 0 1,0 0-1,0 0-15,0 0 16,0 0 0,0 0-16,0 33 31,0-33-15,0 0 15,0 0-16,33 33 17,-33-33-32,0 0 78,33 33 703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E2ACE5B-C851-4331-90E2-985F1D069F4B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r"/>
            <a:fld id="{2E61351F-DBB1-4664-ADA9-83BC7CB8848D}" type="slidenum">
              <a:rPr lang="en-US" altLang="ko-KR" noProof="0" smtClean="0"/>
              <a:pPr algn="r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42362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미세먼지에 대해 자세히 알아보고 미세먼지 발생 시 행동요령에 대해서 알아보겠습니다</a:t>
            </a:r>
            <a:r>
              <a:rPr lang="en-US" altLang="ko-KR" noProof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rtl="0"/>
            <a:fld id="{2E61351F-DBB1-4664-ADA9-83BC7CB8848D}" type="slidenum">
              <a:rPr lang="en-US" altLang="ko-KR" smtClean="0"/>
              <a:pPr algn="r" rtl="0"/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91339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2E61351F-DBB1-4664-ADA9-83BC7CB8848D}" type="slidenum">
              <a:rPr lang="en-US" altLang="ko-KR" noProof="0" smtClean="0"/>
              <a:pPr algn="r"/>
              <a:t>2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63361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2E61351F-DBB1-4664-ADA9-83BC7CB8848D}" type="slidenum">
              <a:rPr lang="en-US" altLang="ko-KR" noProof="0" smtClean="0"/>
              <a:pPr algn="r"/>
              <a:t>3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719343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2E61351F-DBB1-4664-ADA9-83BC7CB8848D}" type="slidenum">
              <a:rPr lang="en-US" altLang="ko-KR" noProof="0" smtClean="0"/>
              <a:pPr algn="r"/>
              <a:t>4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544233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2E61351F-DBB1-4664-ADA9-83BC7CB8848D}" type="slidenum">
              <a:rPr lang="en-US" altLang="ko-KR" noProof="0" smtClean="0"/>
              <a:pPr algn="r"/>
              <a:t>5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07840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2E61351F-DBB1-4664-ADA9-83BC7CB8848D}" type="slidenum">
              <a:rPr lang="en-US" altLang="ko-KR" noProof="0" smtClean="0"/>
              <a:pPr algn="r"/>
              <a:t>6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03941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2E61351F-DBB1-4664-ADA9-83BC7CB8848D}" type="slidenum">
              <a:rPr lang="en-US" altLang="ko-KR" noProof="0" smtClean="0"/>
              <a:pPr algn="r"/>
              <a:t>7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31545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93814" y="990600"/>
            <a:ext cx="8458200" cy="3200400"/>
          </a:xfrm>
        </p:spPr>
        <p:txBody>
          <a:bodyPr rtlCol="0">
            <a:normAutofit/>
          </a:bodyPr>
          <a:lstStyle>
            <a:lvl1pPr algn="l" rtl="0">
              <a:defRPr sz="6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93813" y="4267200"/>
            <a:ext cx="8458200" cy="1371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38400C3-D529-49DE-8107-93C9A2BBE58F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r"/>
            <a:fld id="{81FEFA0A-2F20-4B60-98C6-5FFDA469AA1C}" type="slidenum">
              <a:rPr lang="en-US" altLang="ko-KR" smtClean="0"/>
              <a:pPr algn="r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353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l" rtl="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E9D7F64-AEF2-4021-9957-6FD22FA73686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r"/>
            <a:fld id="{81FEFA0A-2F20-4B60-98C6-5FFDA469AA1C}" type="slidenum">
              <a:rPr lang="en-US" altLang="ko-KR" smtClean="0"/>
              <a:pPr algn="r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476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93813" y="2057400"/>
            <a:ext cx="8458201" cy="2666999"/>
          </a:xfrm>
        </p:spPr>
        <p:txBody>
          <a:bodyPr rtlCol="0" anchor="b">
            <a:normAutofit/>
          </a:bodyPr>
          <a:lstStyle>
            <a:lvl1pPr algn="l" rtl="0">
              <a:defRPr sz="4800" b="0" i="0" cap="none" baseline="0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4876800"/>
            <a:ext cx="8458201" cy="1143000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B45DEF7A-A069-41BA-A0D9-B0E5D4767A4E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algn="r"/>
            <a:fld id="{81FEFA0A-2F20-4B60-98C6-5FFDA469AA1C}" type="slidenum">
              <a:rPr lang="en-US" altLang="ko-KR" smtClean="0"/>
              <a:pPr algn="r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862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3812" y="1676400"/>
            <a:ext cx="4700016" cy="4495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marL="1600200" algn="l" rtl="0">
              <a:defRPr sz="1600"/>
            </a:lvl6pPr>
            <a:lvl7pPr marL="1874520" algn="l" rtl="0">
              <a:defRPr sz="1600"/>
            </a:lvl7pPr>
            <a:lvl8pPr marL="2148840" algn="l" rtl="0">
              <a:defRPr sz="1600"/>
            </a:lvl8pPr>
            <a:lvl9pPr marL="2423160" algn="l" rtl="0">
              <a:defRPr sz="16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202035" y="1676401"/>
            <a:ext cx="4700016" cy="4495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marL="1600200" algn="l" rtl="0">
              <a:defRPr sz="1600"/>
            </a:lvl6pPr>
            <a:lvl7pPr marL="1874520" algn="l" rtl="0">
              <a:defRPr sz="1600"/>
            </a:lvl7pPr>
            <a:lvl8pPr marL="2148840" algn="l" rtl="0">
              <a:defRPr sz="1600"/>
            </a:lvl8pPr>
            <a:lvl9pPr marL="2423160" algn="l" rtl="0">
              <a:defRPr sz="16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E2841A03-F266-473C-A597-95BE6BF61C40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algn="r"/>
            <a:fld id="{81FEFA0A-2F20-4B60-98C6-5FFDA469AA1C}" type="slidenum">
              <a:rPr lang="en-US" altLang="ko-KR" smtClean="0"/>
              <a:pPr algn="r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7462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1676399"/>
            <a:ext cx="4701142" cy="762001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400" b="0"/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3813" y="2516457"/>
            <a:ext cx="4701142" cy="3655743"/>
          </a:xfrm>
        </p:spPr>
        <p:txBody>
          <a:bodyPr rtlCol="0"/>
          <a:lstStyle>
            <a:lvl1pPr algn="l" rtl="0">
              <a:defRPr sz="22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marL="1600200" algn="l" rtl="0">
              <a:defRPr sz="1600"/>
            </a:lvl6pPr>
            <a:lvl7pPr marL="1874520" algn="l" rtl="0">
              <a:defRPr sz="1600"/>
            </a:lvl7pPr>
            <a:lvl8pPr marL="2148840" algn="l" rtl="0">
              <a:defRPr sz="1600"/>
            </a:lvl8pPr>
            <a:lvl9pPr marL="2423160" algn="l" rtl="0">
              <a:defRPr sz="16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1754" y="1676399"/>
            <a:ext cx="4703259" cy="762001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400" b="0"/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1754" y="2516457"/>
            <a:ext cx="4703259" cy="3655743"/>
          </a:xfrm>
        </p:spPr>
        <p:txBody>
          <a:bodyPr rtlCol="0"/>
          <a:lstStyle>
            <a:lvl1pPr algn="l" rtl="0">
              <a:defRPr sz="22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marL="1600200" algn="l" rtl="0">
              <a:defRPr sz="1600"/>
            </a:lvl6pPr>
            <a:lvl7pPr marL="1874520" algn="l" rtl="0">
              <a:defRPr sz="1600"/>
            </a:lvl7pPr>
            <a:lvl8pPr marL="2148840" algn="l" rtl="0">
              <a:defRPr sz="1600"/>
            </a:lvl8pPr>
            <a:lvl9pPr marL="2423160" algn="l" rtl="0">
              <a:defRPr sz="16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67834DFD-266D-44E4-834E-13EE089CD442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algn="r"/>
            <a:fld id="{81FEFA0A-2F20-4B60-98C6-5FFDA469AA1C}" type="slidenum">
              <a:rPr lang="en-US" altLang="ko-KR" smtClean="0"/>
              <a:pPr algn="r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8552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1D0420A0-0003-4988-9238-831751553428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 rtl="0">
              <a:defRPr sz="1100"/>
            </a:lvl1pPr>
          </a:lstStyle>
          <a:p>
            <a:fld id="{81FEFA0A-2F20-4B60-98C6-5FFDA469AA1C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159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비어 있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7705670C-5E0C-4C3F-B2DE-1FB54C23C071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 rtl="0">
              <a:defRPr sz="1100"/>
            </a:lvl1pPr>
          </a:lstStyle>
          <a:p>
            <a:fld id="{81FEFA0A-2F20-4B60-98C6-5FFDA469AA1C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339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770811" y="1676400"/>
            <a:ext cx="3810000" cy="2438400"/>
          </a:xfrm>
        </p:spPr>
        <p:txBody>
          <a:bodyPr rtlCol="0" anchor="b">
            <a:normAutofit/>
          </a:bodyPr>
          <a:lstStyle>
            <a:lvl1pPr algn="l" rtl="0">
              <a:defRPr sz="3200" b="0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71781" y="685800"/>
            <a:ext cx="6172200" cy="54864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770811" y="4191000"/>
            <a:ext cx="3810000" cy="15240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18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F3EAA9BD-D434-4656-87C1-D6CDBFB43767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 rtl="0">
              <a:defRPr sz="1100"/>
            </a:lvl1pPr>
          </a:lstStyle>
          <a:p>
            <a:fld id="{81FEFA0A-2F20-4B60-98C6-5FFDA469AA1C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885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770812" y="1676400"/>
            <a:ext cx="3810000" cy="2438400"/>
          </a:xfrm>
        </p:spPr>
        <p:txBody>
          <a:bodyPr rtlCol="0" anchor="b">
            <a:noAutofit/>
          </a:bodyPr>
          <a:lstStyle>
            <a:lvl1pPr algn="l" rtl="0">
              <a:defRPr sz="3200" b="0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그림 개체 틀 2" descr="이미지를 추가할 수 있는 빈 개체 틀입니다. 개체 틀을 클릭하고 추가할 이미지를 선택합니다."/>
          <p:cNvSpPr>
            <a:spLocks noGrp="1"/>
          </p:cNvSpPr>
          <p:nvPr>
            <p:ph type="pic" idx="1"/>
          </p:nvPr>
        </p:nvSpPr>
        <p:spPr>
          <a:xfrm>
            <a:off x="1522412" y="0"/>
            <a:ext cx="5943601" cy="6858000"/>
          </a:xfrm>
        </p:spPr>
        <p:txBody>
          <a:bodyPr tIns="914400" rtlCol="0">
            <a:normAutofit/>
          </a:bodyPr>
          <a:lstStyle>
            <a:lvl1pPr marL="0" indent="0" algn="ctr" rtl="0">
              <a:buNone/>
              <a:defRPr sz="2400"/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770812" y="4191000"/>
            <a:ext cx="3810000" cy="15240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18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3949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marL="1600200" algn="l" rtl="0">
              <a:defRPr/>
            </a:lvl6pPr>
            <a:lvl7pPr marL="1874520" algn="l" rtl="0">
              <a:defRPr/>
            </a:lvl7pPr>
            <a:lvl8pPr marL="2148840" algn="l" rtl="0">
              <a:defRPr/>
            </a:lvl8pPr>
            <a:lvl9pPr marL="2423160" algn="l" rtl="0">
              <a:defRPr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E0CCD8B5-2A1E-4C69-963A-CDBE68F527BF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 rtl="0">
              <a:defRPr sz="1100"/>
            </a:lvl1pPr>
          </a:lstStyle>
          <a:p>
            <a:fld id="{81FEFA0A-2F20-4B60-98C6-5FFDA469AA1C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757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752014" y="381000"/>
            <a:ext cx="1904998" cy="5791200"/>
          </a:xfrm>
        </p:spPr>
        <p:txBody>
          <a:bodyPr vert="eaVert"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293814" y="381000"/>
            <a:ext cx="8305800" cy="57912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4F7A704A-60D5-4F31-82C6-2E6B7A20EEB0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algn="r"/>
            <a:fld id="{81FEFA0A-2F20-4B60-98C6-5FFDA469AA1C}" type="slidenum">
              <a:rPr lang="en-US" altLang="ko-KR" smtClean="0"/>
              <a:pPr algn="r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226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836614" y="0"/>
            <a:ext cx="11352212" cy="6858000"/>
          </a:xfrm>
          <a:prstGeom prst="rect">
            <a:avLst/>
          </a:prstGeom>
          <a:gradFill>
            <a:gsLst>
              <a:gs pos="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293813" y="3810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1676400"/>
            <a:ext cx="96012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dirty="0"/>
              <a:t>둘째 수준</a:t>
            </a:r>
          </a:p>
          <a:p>
            <a:pPr lvl="2" rtl="0"/>
            <a:r>
              <a:rPr lang="ko-KR" altLang="en-US" dirty="0"/>
              <a:t>셋째 수준</a:t>
            </a:r>
          </a:p>
          <a:p>
            <a:pPr lvl="3" rtl="0"/>
            <a:r>
              <a:rPr lang="ko-KR" altLang="en-US" dirty="0"/>
              <a:t>넷째 수준</a:t>
            </a:r>
          </a:p>
          <a:p>
            <a:pPr lvl="4" rtl="0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27178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31C4EF8-7A5D-469D-A920-ADEA107260AF}" type="datetime1">
              <a:rPr lang="ko-KR" altLang="en-US" smtClean="0"/>
              <a:pPr/>
              <a:t>2018-04-15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0512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1FEFA0A-2F20-4B60-98C6-5FFDA469AA1C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872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3838" indent="-228600" algn="l" defTabSz="914400" rtl="0" eaLnBrk="1" latinLnBrk="1" hangingPunct="1">
        <a:lnSpc>
          <a:spcPct val="90000"/>
        </a:lnSpc>
        <a:spcBef>
          <a:spcPts val="1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502920" indent="-228600" algn="l" defTabSz="914400" rtl="0" eaLnBrk="1" latinLnBrk="1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777240" indent="-228600" algn="l" defTabSz="914400" rtl="0" eaLnBrk="1" latinLnBrk="1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051560" indent="-228600" algn="l" defTabSz="914400" rtl="0" eaLnBrk="1" latinLnBrk="1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325880" indent="-228600" algn="l" defTabSz="914400" rtl="0" eaLnBrk="1" latinLnBrk="1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1600200" indent="-228600" algn="l" defTabSz="914400" rtl="0" eaLnBrk="1" latinLnBrk="1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228600" algn="l" defTabSz="914400" rtl="0" eaLnBrk="1" latinLnBrk="1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228600" algn="l" defTabSz="914400" rtl="0" eaLnBrk="1" latinLnBrk="1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23160" indent="-228600" algn="l" defTabSz="914400" rtl="0" eaLnBrk="1" latinLnBrk="1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  <a:sym typeface="Malgun Gothic" panose="020B0503020000020004" pitchFamily="50" charset="-127"/>
              </a:rPr>
              <a:t>미세먼지 농도 및</a:t>
            </a:r>
            <a:b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  <a:sym typeface="Malgun Gothic" panose="020B0503020000020004" pitchFamily="50" charset="-127"/>
              </a:rPr>
            </a:b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  <a:sym typeface="Malgun Gothic" panose="020B0503020000020004" pitchFamily="50" charset="-127"/>
              </a:rPr>
              <a:t>건강관리</a:t>
            </a:r>
          </a:p>
        </p:txBody>
      </p:sp>
    </p:spTree>
    <p:extLst>
      <p:ext uri="{BB962C8B-B14F-4D97-AF65-F5344CB8AC3E}">
        <p14:creationId xmlns:p14="http://schemas.microsoft.com/office/powerpoint/2010/main" val="3198176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5997">
        <p:fade/>
      </p:transition>
    </mc:Choice>
    <mc:Fallback>
      <p:transition spd="med" advTm="5997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71782-A4ED-4B81-868F-3617D7D92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미세먼지란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09FAF2-6062-4916-A6C0-961B8B6C5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미세먼지 </a:t>
            </a:r>
            <a:r>
              <a:rPr lang="en-US" altLang="ko-KR" dirty="0"/>
              <a:t>: </a:t>
            </a:r>
            <a:r>
              <a:rPr lang="ko-KR" altLang="en-US" dirty="0"/>
              <a:t>눈에 보이지 않을 만큼 매우 작기 때문에 대기 중에 머물러 있다 호흡기를 거쳐 폐 등에 침투하거나 혈관을 따라 체내로 이동하여 </a:t>
            </a:r>
            <a:r>
              <a:rPr lang="ko-KR" altLang="en-US" dirty="0" err="1"/>
              <a:t>들어감으로써</a:t>
            </a:r>
            <a:r>
              <a:rPr lang="ko-KR" altLang="en-US" dirty="0"/>
              <a:t> 건강에 나쁜 영향을 미칠 수 있는 공기입니다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초미세먼지 </a:t>
            </a:r>
            <a:r>
              <a:rPr lang="en-US" altLang="ko-KR" dirty="0"/>
              <a:t>: </a:t>
            </a:r>
            <a:r>
              <a:rPr lang="ko-KR" altLang="en-US" dirty="0"/>
              <a:t>먼지는 입자의 크기에 따라 </a:t>
            </a:r>
            <a:r>
              <a:rPr lang="ko-KR" altLang="en-US" dirty="0" err="1"/>
              <a:t>총먼지</a:t>
            </a:r>
            <a:r>
              <a:rPr lang="en-US" altLang="ko-KR" dirty="0"/>
              <a:t>(</a:t>
            </a:r>
            <a:r>
              <a:rPr lang="en-US" altLang="ko-KR" dirty="0" err="1"/>
              <a:t>TSP:total</a:t>
            </a:r>
            <a:r>
              <a:rPr lang="en-US" altLang="ko-KR" dirty="0"/>
              <a:t> suspended particles), </a:t>
            </a:r>
            <a:r>
              <a:rPr lang="ko-KR" altLang="en-US" dirty="0"/>
              <a:t>지름이 </a:t>
            </a:r>
            <a:r>
              <a:rPr lang="en-US" altLang="ko-KR" dirty="0"/>
              <a:t>10㎛ </a:t>
            </a:r>
            <a:r>
              <a:rPr lang="ko-KR" altLang="en-US" dirty="0"/>
              <a:t>이하인 미세먼지</a:t>
            </a:r>
            <a:r>
              <a:rPr lang="en-US" altLang="ko-KR" dirty="0"/>
              <a:t>, </a:t>
            </a:r>
            <a:r>
              <a:rPr lang="ko-KR" altLang="en-US" dirty="0"/>
              <a:t>지름이 </a:t>
            </a:r>
            <a:r>
              <a:rPr lang="en-US" altLang="ko-KR" dirty="0"/>
              <a:t>2.5㎛ </a:t>
            </a:r>
            <a:r>
              <a:rPr lang="ko-KR" altLang="en-US" dirty="0"/>
              <a:t>이하인 초미세먼지로 나뉜다</a:t>
            </a:r>
            <a:r>
              <a:rPr lang="en-US" altLang="ko-KR" dirty="0"/>
              <a:t>. </a:t>
            </a:r>
            <a:r>
              <a:rPr lang="ko-KR" altLang="en-US" dirty="0"/>
              <a:t>이 가운데 </a:t>
            </a:r>
            <a:r>
              <a:rPr lang="en-US" altLang="ko-KR" dirty="0"/>
              <a:t>10㎛ </a:t>
            </a:r>
            <a:r>
              <a:rPr lang="ko-KR" altLang="en-US" dirty="0"/>
              <a:t>이하의 미세먼지는 사람의 </a:t>
            </a:r>
            <a:r>
              <a:rPr lang="ko-KR" altLang="en-US" dirty="0" err="1"/>
              <a:t>폐포까지</a:t>
            </a:r>
            <a:r>
              <a:rPr lang="ko-KR" altLang="en-US" dirty="0"/>
              <a:t> 깊숙이 침투해 각종 호흡기 질환을 일으키는 직접적인 원인이 됩니다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황산염</a:t>
            </a:r>
            <a:r>
              <a:rPr lang="en-US" altLang="ko-KR" dirty="0"/>
              <a:t>, </a:t>
            </a:r>
            <a:r>
              <a:rPr lang="ko-KR" altLang="en-US" dirty="0"/>
              <a:t>질산염</a:t>
            </a:r>
            <a:r>
              <a:rPr lang="en-US" altLang="ko-KR" dirty="0"/>
              <a:t>, </a:t>
            </a:r>
            <a:r>
              <a:rPr lang="ko-KR" altLang="en-US" dirty="0"/>
              <a:t>암모니아 등의 이온 성분과 금속화합물</a:t>
            </a:r>
            <a:r>
              <a:rPr lang="en-US" altLang="ko-KR" dirty="0"/>
              <a:t>, </a:t>
            </a:r>
            <a:r>
              <a:rPr lang="ko-KR" altLang="en-US" dirty="0"/>
              <a:t>탄소화합물 등 유해물질로 이루어져 있는데</a:t>
            </a:r>
            <a:r>
              <a:rPr lang="en-US" altLang="ko-KR" dirty="0"/>
              <a:t>, </a:t>
            </a:r>
            <a:r>
              <a:rPr lang="ko-KR" altLang="en-US" dirty="0"/>
              <a:t>주로 자동차 배기가스에서 발생한다</a:t>
            </a:r>
            <a:r>
              <a:rPr lang="en-US" altLang="ko-KR" dirty="0"/>
              <a:t>. </a:t>
            </a:r>
            <a:r>
              <a:rPr lang="ko-KR" altLang="en-US" dirty="0"/>
              <a:t>이 때문에 세계 각국에서는 </a:t>
            </a:r>
            <a:r>
              <a:rPr lang="en-US" altLang="ko-KR" dirty="0"/>
              <a:t>10㎛ </a:t>
            </a:r>
            <a:r>
              <a:rPr lang="ko-KR" altLang="en-US" dirty="0"/>
              <a:t>이하의 먼지를 임계농도</a:t>
            </a:r>
            <a:r>
              <a:rPr lang="en-US" altLang="ko-KR" dirty="0"/>
              <a:t>(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  <a:r>
              <a:rPr lang="ko-KR" altLang="en-US" dirty="0"/>
              <a:t>로 정해 엄격하게 규제하고 있다</a:t>
            </a:r>
            <a:r>
              <a:rPr lang="en-US" altLang="ko-KR" dirty="0"/>
              <a:t>. </a:t>
            </a:r>
            <a:r>
              <a:rPr lang="ko-KR" altLang="en-US" dirty="0"/>
              <a:t>한국에서도 </a:t>
            </a:r>
            <a:r>
              <a:rPr lang="en-US" altLang="ko-KR" dirty="0"/>
              <a:t>1995</a:t>
            </a:r>
            <a:r>
              <a:rPr lang="ko-KR" altLang="en-US" dirty="0"/>
              <a:t>년부터 이 농도를 미세먼지 기준으로 삼고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3548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6081">
        <p:fade/>
      </p:transition>
    </mc:Choice>
    <mc:Fallback>
      <p:transition spd="med" advTm="608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82CBA6-570D-4A55-B37A-F7BD05290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미세먼지의 원인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C6628B3D-4B5A-44EF-91A2-F4857EC58D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9651089"/>
              </p:ext>
            </p:extLst>
          </p:nvPr>
        </p:nvGraphicFramePr>
        <p:xfrm>
          <a:off x="1293813" y="1844824"/>
          <a:ext cx="9121079" cy="4056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31FAE2EA-04F8-40B5-9D04-AA939BEEE6CF}"/>
                  </a:ext>
                </a:extLst>
              </p14:cNvPr>
              <p14:cNvContentPartPr/>
              <p14:nvPr/>
            </p14:nvContentPartPr>
            <p14:xfrm>
              <a:off x="6379920" y="4534920"/>
              <a:ext cx="3690360" cy="109548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31FAE2EA-04F8-40B5-9D04-AA939BEEE6C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70560" y="4525560"/>
                <a:ext cx="3709080" cy="111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3255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5667">
        <p:fade/>
      </p:transition>
    </mc:Choice>
    <mc:Fallback>
      <p:transition spd="med" advTm="5667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90482-828F-4A24-96B4-A39A2A5F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미세먼지 관련 질환 발생 현황 차트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8277EE-8945-45C2-A689-8348AFB20241}"/>
              </a:ext>
            </a:extLst>
          </p:cNvPr>
          <p:cNvSpPr txBox="1"/>
          <p:nvPr/>
        </p:nvSpPr>
        <p:spPr>
          <a:xfrm>
            <a:off x="6238428" y="1844824"/>
            <a:ext cx="4104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바탕" pitchFamily="18" charset="-127"/>
                <a:ea typeface="바탕" pitchFamily="18" charset="-127"/>
              </a:rPr>
              <a:t>[</a:t>
            </a:r>
            <a:r>
              <a:rPr lang="ko-KR" altLang="en-US" sz="2400" b="1" dirty="0">
                <a:latin typeface="바탕" pitchFamily="18" charset="-127"/>
                <a:ea typeface="바탕" pitchFamily="18" charset="-127"/>
              </a:rPr>
              <a:t>출처 </a:t>
            </a:r>
            <a:r>
              <a:rPr lang="en-US" altLang="ko-KR" sz="2400" b="1" dirty="0">
                <a:latin typeface="바탕" pitchFamily="18" charset="-127"/>
                <a:ea typeface="바탕" pitchFamily="18" charset="-127"/>
              </a:rPr>
              <a:t>: </a:t>
            </a:r>
            <a:r>
              <a:rPr lang="ko-KR" altLang="en-US" sz="2400" b="1" dirty="0">
                <a:latin typeface="바탕" pitchFamily="18" charset="-127"/>
                <a:ea typeface="바탕" pitchFamily="18" charset="-127"/>
              </a:rPr>
              <a:t>건강보험심사평가원</a:t>
            </a:r>
            <a:r>
              <a:rPr lang="en-US" altLang="ko-KR" sz="2400" b="1" dirty="0">
                <a:latin typeface="바탕" pitchFamily="18" charset="-127"/>
                <a:ea typeface="바탕" pitchFamily="18" charset="-127"/>
              </a:rPr>
              <a:t>]</a:t>
            </a:r>
            <a:endParaRPr lang="ko-KR" altLang="en-US" sz="2400" b="1" dirty="0">
              <a:latin typeface="바탕" pitchFamily="18" charset="-127"/>
              <a:ea typeface="바탕" pitchFamily="18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5C5B3D88-7FA0-4BD8-B80E-06996C38B7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2331839"/>
              </p:ext>
            </p:extLst>
          </p:nvPr>
        </p:nvGraphicFramePr>
        <p:xfrm>
          <a:off x="1485900" y="2492896"/>
          <a:ext cx="8712968" cy="3816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59603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5782">
        <p:fade/>
      </p:transition>
    </mc:Choice>
    <mc:Fallback>
      <p:transition spd="med" advTm="578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92B9A7-1B5C-479C-8CD1-1AFAF39E5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3" y="381000"/>
            <a:ext cx="9601200" cy="1143000"/>
          </a:xfrm>
        </p:spPr>
        <p:txBody>
          <a:bodyPr/>
          <a:lstStyle/>
          <a:p>
            <a:r>
              <a:rPr lang="ko-KR" altLang="en-US" dirty="0"/>
              <a:t>미세먼지 발생시 행동 요령</a:t>
            </a:r>
          </a:p>
        </p:txBody>
      </p:sp>
      <p:sp>
        <p:nvSpPr>
          <p:cNvPr id="4" name="오각형 1">
            <a:extLst>
              <a:ext uri="{FF2B5EF4-FFF2-40B4-BE49-F238E27FC236}">
                <a16:creationId xmlns:a16="http://schemas.microsoft.com/office/drawing/2014/main" id="{29DAADA8-7EAA-4FCB-A1ED-0E367879CB67}"/>
              </a:ext>
            </a:extLst>
          </p:cNvPr>
          <p:cNvSpPr/>
          <p:nvPr/>
        </p:nvSpPr>
        <p:spPr>
          <a:xfrm>
            <a:off x="1125860" y="2492896"/>
            <a:ext cx="3384376" cy="720000"/>
          </a:xfrm>
          <a:prstGeom prst="homePlat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미세먼지 발생</a:t>
            </a:r>
          </a:p>
        </p:txBody>
      </p:sp>
      <p:sp>
        <p:nvSpPr>
          <p:cNvPr id="5" name="오각형 14">
            <a:extLst>
              <a:ext uri="{FF2B5EF4-FFF2-40B4-BE49-F238E27FC236}">
                <a16:creationId xmlns:a16="http://schemas.microsoft.com/office/drawing/2014/main" id="{AFF79AC7-0702-40FE-A025-8D29D850EB90}"/>
              </a:ext>
            </a:extLst>
          </p:cNvPr>
          <p:cNvSpPr/>
          <p:nvPr/>
        </p:nvSpPr>
        <p:spPr>
          <a:xfrm>
            <a:off x="1989956" y="3381440"/>
            <a:ext cx="3384376" cy="720000"/>
          </a:xfrm>
          <a:prstGeom prst="homePlat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불가피한 외출</a:t>
            </a:r>
          </a:p>
        </p:txBody>
      </p:sp>
      <p:sp>
        <p:nvSpPr>
          <p:cNvPr id="6" name="오각형 15">
            <a:extLst>
              <a:ext uri="{FF2B5EF4-FFF2-40B4-BE49-F238E27FC236}">
                <a16:creationId xmlns:a16="http://schemas.microsoft.com/office/drawing/2014/main" id="{7A1B813D-AC45-4A90-913B-ACE2F56780FA}"/>
              </a:ext>
            </a:extLst>
          </p:cNvPr>
          <p:cNvSpPr/>
          <p:nvPr/>
        </p:nvSpPr>
        <p:spPr>
          <a:xfrm>
            <a:off x="2926060" y="4269984"/>
            <a:ext cx="3384376" cy="720000"/>
          </a:xfrm>
          <a:prstGeom prst="homePlat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외출 후</a:t>
            </a:r>
          </a:p>
        </p:txBody>
      </p:sp>
      <p:sp>
        <p:nvSpPr>
          <p:cNvPr id="7" name="모서리가 둥근 직사각형 2">
            <a:extLst>
              <a:ext uri="{FF2B5EF4-FFF2-40B4-BE49-F238E27FC236}">
                <a16:creationId xmlns:a16="http://schemas.microsoft.com/office/drawing/2014/main" id="{C7105E61-FE6D-493D-A114-AC5B90B2C114}"/>
              </a:ext>
            </a:extLst>
          </p:cNvPr>
          <p:cNvSpPr/>
          <p:nvPr/>
        </p:nvSpPr>
        <p:spPr>
          <a:xfrm>
            <a:off x="6454452" y="2492896"/>
            <a:ext cx="5184576" cy="720000"/>
          </a:xfrm>
          <a:prstGeom prst="roundRect">
            <a:avLst/>
          </a:prstGeom>
          <a:solidFill>
            <a:srgbClr val="92D050"/>
          </a:solidFill>
          <a:ln w="31750">
            <a:solidFill>
              <a:schemeClr val="accent6">
                <a:lumMod val="40000"/>
                <a:lumOff val="60000"/>
              </a:schemeClr>
            </a:solidFill>
          </a:ln>
          <a:effectLst/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집의 창문을 닫고 외출 삼가</a:t>
            </a:r>
          </a:p>
        </p:txBody>
      </p:sp>
      <p:sp>
        <p:nvSpPr>
          <p:cNvPr id="8" name="모서리가 둥근 직사각형 16">
            <a:extLst>
              <a:ext uri="{FF2B5EF4-FFF2-40B4-BE49-F238E27FC236}">
                <a16:creationId xmlns:a16="http://schemas.microsoft.com/office/drawing/2014/main" id="{DD00CD43-2545-4C62-B197-1348EE728864}"/>
              </a:ext>
            </a:extLst>
          </p:cNvPr>
          <p:cNvSpPr/>
          <p:nvPr/>
        </p:nvSpPr>
        <p:spPr>
          <a:xfrm>
            <a:off x="6454452" y="3381440"/>
            <a:ext cx="5184576" cy="720000"/>
          </a:xfrm>
          <a:prstGeom prst="roundRect">
            <a:avLst/>
          </a:prstGeom>
          <a:solidFill>
            <a:srgbClr val="92D050"/>
          </a:solidFill>
          <a:ln w="31750">
            <a:solidFill>
              <a:schemeClr val="accent6">
                <a:lumMod val="40000"/>
                <a:lumOff val="60000"/>
              </a:schemeClr>
            </a:solidFill>
          </a:ln>
          <a:effectLst/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미세먼지용</a:t>
            </a:r>
            <a:r>
              <a:rPr lang="en-US" altLang="ko-KR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마스크 착용</a:t>
            </a:r>
          </a:p>
        </p:txBody>
      </p:sp>
      <p:sp>
        <p:nvSpPr>
          <p:cNvPr id="9" name="모서리가 둥근 직사각형 17">
            <a:extLst>
              <a:ext uri="{FF2B5EF4-FFF2-40B4-BE49-F238E27FC236}">
                <a16:creationId xmlns:a16="http://schemas.microsoft.com/office/drawing/2014/main" id="{DE4B6D0F-EA90-4854-907F-B4A3E68DBEB1}"/>
              </a:ext>
            </a:extLst>
          </p:cNvPr>
          <p:cNvSpPr/>
          <p:nvPr/>
        </p:nvSpPr>
        <p:spPr>
          <a:xfrm>
            <a:off x="6454452" y="4269984"/>
            <a:ext cx="5184576" cy="720000"/>
          </a:xfrm>
          <a:prstGeom prst="roundRect">
            <a:avLst/>
          </a:prstGeom>
          <a:solidFill>
            <a:srgbClr val="92D050"/>
          </a:solidFill>
          <a:ln w="31750">
            <a:solidFill>
              <a:schemeClr val="accent6">
                <a:lumMod val="40000"/>
                <a:lumOff val="60000"/>
              </a:schemeClr>
            </a:solidFill>
          </a:ln>
          <a:effectLst/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외출복 세탁 및 샤워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4D89FC6-C3D8-498B-A4F2-27FC1839BBEF}"/>
              </a:ext>
            </a:extLst>
          </p:cNvPr>
          <p:cNvSpPr/>
          <p:nvPr/>
        </p:nvSpPr>
        <p:spPr>
          <a:xfrm>
            <a:off x="2777785" y="5389647"/>
            <a:ext cx="4504759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35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맑은 고딕" panose="020B0503020000020004" pitchFamily="50" charset="-127"/>
                <a:ea typeface="맑은 고딕" panose="020B0503020000020004" pitchFamily="50" charset="-127"/>
              </a:rPr>
              <a:t>미세먼지 접촉 피하기</a:t>
            </a:r>
            <a:endParaRPr lang="en-US" altLang="ko-KR" sz="35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줄무늬가 있는 오른쪽 화살표 12">
            <a:extLst>
              <a:ext uri="{FF2B5EF4-FFF2-40B4-BE49-F238E27FC236}">
                <a16:creationId xmlns:a16="http://schemas.microsoft.com/office/drawing/2014/main" id="{61968A55-89DC-4781-B669-20183B051DCF}"/>
              </a:ext>
            </a:extLst>
          </p:cNvPr>
          <p:cNvSpPr/>
          <p:nvPr/>
        </p:nvSpPr>
        <p:spPr>
          <a:xfrm>
            <a:off x="2926060" y="6005523"/>
            <a:ext cx="8712968" cy="447813"/>
          </a:xfrm>
          <a:prstGeom prst="stripedRightArrow">
            <a:avLst/>
          </a:prstGeom>
          <a:solidFill>
            <a:srgbClr val="00B0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104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6333">
        <p:fade/>
      </p:transition>
    </mc:Choice>
    <mc:Fallback>
      <p:transition spd="med" advTm="6333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5D4AED-1AD0-4E27-BAAE-B4D0166CF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미세먼지 등급</a:t>
            </a:r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6C96C84D-D10C-4627-9E18-9FB678FDEE4A}"/>
              </a:ext>
            </a:extLst>
          </p:cNvPr>
          <p:cNvSpPr/>
          <p:nvPr/>
        </p:nvSpPr>
        <p:spPr>
          <a:xfrm>
            <a:off x="1990756" y="2552114"/>
            <a:ext cx="3600000" cy="648000"/>
          </a:xfrm>
          <a:prstGeom prst="flowChartAlternateProcess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latin typeface="+mj-lt"/>
                <a:ea typeface="굴림" pitchFamily="50" charset="-127"/>
              </a:rPr>
              <a:t>좋음 </a:t>
            </a:r>
            <a:r>
              <a:rPr lang="en-US" altLang="ko-KR" sz="1600" b="1">
                <a:latin typeface="+mj-lt"/>
                <a:ea typeface="굴림" pitchFamily="50" charset="-127"/>
              </a:rPr>
              <a:t>: 0 – 30(</a:t>
            </a:r>
            <a:r>
              <a:rPr lang="ko-KR" altLang="en-US" sz="1600" b="1">
                <a:latin typeface="+mj-lt"/>
                <a:ea typeface="굴림" pitchFamily="50" charset="-127"/>
              </a:rPr>
              <a:t>마이크로미터</a:t>
            </a:r>
            <a:r>
              <a:rPr lang="en-US" altLang="ko-KR" sz="1600" b="1">
                <a:latin typeface="+mj-lt"/>
                <a:ea typeface="굴림" pitchFamily="50" charset="-127"/>
              </a:rPr>
              <a:t>)</a:t>
            </a:r>
            <a:endParaRPr lang="ko-KR" altLang="en-US" sz="1600" b="1" dirty="0">
              <a:latin typeface="+mj-lt"/>
              <a:ea typeface="굴림" pitchFamily="50" charset="-127"/>
            </a:endParaRP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36F2944B-544E-4857-9450-52B1797B0BEB}"/>
              </a:ext>
            </a:extLst>
          </p:cNvPr>
          <p:cNvSpPr/>
          <p:nvPr/>
        </p:nvSpPr>
        <p:spPr>
          <a:xfrm>
            <a:off x="1990756" y="4185156"/>
            <a:ext cx="3600000" cy="648000"/>
          </a:xfrm>
          <a:prstGeom prst="flowChartAlternateProcess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latin typeface="+mj-lt"/>
                <a:ea typeface="굴림" pitchFamily="50" charset="-127"/>
              </a:rPr>
              <a:t>나쁨 </a:t>
            </a:r>
            <a:r>
              <a:rPr lang="en-US" altLang="ko-KR" sz="1600" b="1">
                <a:latin typeface="+mj-lt"/>
                <a:ea typeface="굴림" pitchFamily="50" charset="-127"/>
              </a:rPr>
              <a:t>: 81 – 150(</a:t>
            </a:r>
            <a:r>
              <a:rPr lang="ko-KR" altLang="en-US" sz="1600" b="1">
                <a:latin typeface="+mj-lt"/>
                <a:ea typeface="굴림" pitchFamily="50" charset="-127"/>
              </a:rPr>
              <a:t>마이크로미터</a:t>
            </a:r>
            <a:r>
              <a:rPr lang="en-US" altLang="ko-KR" sz="1600" b="1">
                <a:latin typeface="+mj-lt"/>
                <a:ea typeface="굴림" pitchFamily="50" charset="-127"/>
              </a:rPr>
              <a:t>)</a:t>
            </a:r>
            <a:endParaRPr lang="ko-KR" altLang="en-US" sz="1600" b="1" dirty="0">
              <a:latin typeface="+mj-lt"/>
              <a:ea typeface="굴림" pitchFamily="50" charset="-127"/>
            </a:endParaRPr>
          </a:p>
        </p:txBody>
      </p:sp>
      <p:sp>
        <p:nvSpPr>
          <p:cNvPr id="7" name="순서도: 대체 처리 6">
            <a:extLst>
              <a:ext uri="{FF2B5EF4-FFF2-40B4-BE49-F238E27FC236}">
                <a16:creationId xmlns:a16="http://schemas.microsoft.com/office/drawing/2014/main" id="{1B39FC1A-CD51-4E71-B3E5-456EC46D5027}"/>
              </a:ext>
            </a:extLst>
          </p:cNvPr>
          <p:cNvSpPr/>
          <p:nvPr/>
        </p:nvSpPr>
        <p:spPr>
          <a:xfrm>
            <a:off x="6598868" y="2552114"/>
            <a:ext cx="3600000" cy="648000"/>
          </a:xfrm>
          <a:prstGeom prst="flowChartAlternateProcess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latin typeface="+mj-lt"/>
                <a:ea typeface="굴림" pitchFamily="50" charset="-127"/>
              </a:rPr>
              <a:t>보통 </a:t>
            </a:r>
            <a:r>
              <a:rPr lang="en-US" altLang="ko-KR" sz="1600" b="1">
                <a:latin typeface="+mj-lt"/>
                <a:ea typeface="굴림" pitchFamily="50" charset="-127"/>
              </a:rPr>
              <a:t>: 31 – 80(</a:t>
            </a:r>
            <a:r>
              <a:rPr lang="ko-KR" altLang="en-US" sz="1600" b="1">
                <a:latin typeface="+mj-lt"/>
                <a:ea typeface="굴림" pitchFamily="50" charset="-127"/>
              </a:rPr>
              <a:t>마이크로미터</a:t>
            </a:r>
            <a:r>
              <a:rPr lang="en-US" altLang="ko-KR" sz="1600" b="1">
                <a:latin typeface="+mj-lt"/>
                <a:ea typeface="굴림" pitchFamily="50" charset="-127"/>
              </a:rPr>
              <a:t>)</a:t>
            </a:r>
            <a:endParaRPr lang="ko-KR" altLang="en-US" sz="1600" b="1" dirty="0">
              <a:latin typeface="+mj-lt"/>
              <a:ea typeface="굴림" pitchFamily="50" charset="-127"/>
            </a:endParaRPr>
          </a:p>
        </p:txBody>
      </p:sp>
      <p:sp>
        <p:nvSpPr>
          <p:cNvPr id="8" name="순서도: 대체 처리 7">
            <a:extLst>
              <a:ext uri="{FF2B5EF4-FFF2-40B4-BE49-F238E27FC236}">
                <a16:creationId xmlns:a16="http://schemas.microsoft.com/office/drawing/2014/main" id="{ED16CC5C-22B0-4EE2-99FF-115E242C4EDF}"/>
              </a:ext>
            </a:extLst>
          </p:cNvPr>
          <p:cNvSpPr/>
          <p:nvPr/>
        </p:nvSpPr>
        <p:spPr>
          <a:xfrm>
            <a:off x="6598868" y="4185156"/>
            <a:ext cx="3600000" cy="648000"/>
          </a:xfrm>
          <a:prstGeom prst="flowChartAlternateProcess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+mj-lt"/>
                <a:ea typeface="굴림" pitchFamily="50" charset="-127"/>
              </a:rPr>
              <a:t>매우 나쁨 </a:t>
            </a:r>
            <a:r>
              <a:rPr lang="en-US" altLang="ko-KR" sz="1600" b="1" dirty="0">
                <a:latin typeface="+mj-lt"/>
                <a:ea typeface="굴림" pitchFamily="50" charset="-127"/>
              </a:rPr>
              <a:t>: 151(</a:t>
            </a:r>
            <a:r>
              <a:rPr lang="ko-KR" altLang="en-US" sz="1600" b="1" dirty="0">
                <a:latin typeface="+mj-lt"/>
                <a:ea typeface="굴림" pitchFamily="50" charset="-127"/>
              </a:rPr>
              <a:t>마이크로미터</a:t>
            </a:r>
            <a:r>
              <a:rPr lang="en-US" altLang="ko-KR" sz="1600" b="1" dirty="0">
                <a:latin typeface="+mj-lt"/>
                <a:ea typeface="굴림" pitchFamily="50" charset="-127"/>
              </a:rPr>
              <a:t>)</a:t>
            </a:r>
            <a:r>
              <a:rPr lang="ko-KR" altLang="en-US" sz="1600" b="1" dirty="0">
                <a:latin typeface="+mj-lt"/>
                <a:ea typeface="굴림" pitchFamily="50" charset="-127"/>
              </a:rPr>
              <a:t> 이상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8CC362B-BA4D-4D88-BC14-78CC2B220DB7}"/>
              </a:ext>
            </a:extLst>
          </p:cNvPr>
          <p:cNvSpPr/>
          <p:nvPr/>
        </p:nvSpPr>
        <p:spPr>
          <a:xfrm>
            <a:off x="5047704" y="2690655"/>
            <a:ext cx="2118264" cy="211826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미세먼지 등급</a:t>
            </a:r>
          </a:p>
        </p:txBody>
      </p:sp>
    </p:spTree>
    <p:extLst>
      <p:ext uri="{BB962C8B-B14F-4D97-AF65-F5344CB8AC3E}">
        <p14:creationId xmlns:p14="http://schemas.microsoft.com/office/powerpoint/2010/main" val="2501369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5646">
        <p:fade/>
      </p:transition>
    </mc:Choice>
    <mc:Fallback>
      <p:transition spd="med" advTm="5646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BEFD95-D4D8-45ED-89CF-CB0F6C15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미세먼지 관련 질환 발생 현황표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8FD0D17-6170-4809-890F-F3CCE6092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437620"/>
              </p:ext>
            </p:extLst>
          </p:nvPr>
        </p:nvGraphicFramePr>
        <p:xfrm>
          <a:off x="1269876" y="2604512"/>
          <a:ext cx="10153128" cy="21926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92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856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2012</a:t>
                      </a:r>
                      <a:r>
                        <a:rPr lang="ko-KR" alt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2013</a:t>
                      </a:r>
                      <a:r>
                        <a:rPr lang="ko-KR" alt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2014</a:t>
                      </a:r>
                      <a:r>
                        <a:rPr lang="ko-KR" alt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</a:t>
                      </a:r>
                      <a:r>
                        <a:rPr lang="ko-KR" alt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</a:t>
                      </a:r>
                      <a:r>
                        <a:rPr lang="ko-KR" alt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69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i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환자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i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37,190</a:t>
                      </a:r>
                      <a:endParaRPr lang="ko-KR" altLang="en-US" sz="2400" b="1" i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i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36,539</a:t>
                      </a:r>
                      <a:endParaRPr lang="ko-KR" altLang="en-US" sz="2400" b="1" i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i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38,451</a:t>
                      </a:r>
                      <a:endParaRPr lang="ko-KR" altLang="en-US" sz="2400" b="1" i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i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39,839</a:t>
                      </a:r>
                      <a:endParaRPr lang="ko-KR" altLang="en-US" sz="2400" b="1" i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i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42,087</a:t>
                      </a:r>
                      <a:endParaRPr lang="ko-KR" altLang="en-US" sz="2400" b="1" i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BF3D338-A533-4780-B78F-84A4F0DBE8C6}"/>
              </a:ext>
            </a:extLst>
          </p:cNvPr>
          <p:cNvSpPr txBox="1"/>
          <p:nvPr/>
        </p:nvSpPr>
        <p:spPr>
          <a:xfrm>
            <a:off x="9939651" y="1916832"/>
            <a:ext cx="1627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2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2336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5818">
        <p:fade/>
      </p:transition>
    </mc:Choice>
    <mc:Fallback>
      <p:transition spd="med" advTm="5818">
        <p:fade/>
      </p:transition>
    </mc:Fallback>
  </mc:AlternateContent>
</p:sld>
</file>

<file path=ppt/theme/theme1.xml><?xml version="1.0" encoding="utf-8"?>
<a:theme xmlns:a="http://schemas.openxmlformats.org/drawingml/2006/main" name="고요함 16 x 9">
  <a:themeElements>
    <a:clrScheme name="Serenity_16x9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2175_TF02801109.potx" id="{D7B7B9A2-F71A-4C4A-9A15-4E860DB45AE6}" vid="{01CFDDD6-C155-4DDA-82B3-B3FB5F8CFBC0}"/>
    </a:ext>
  </a:extLst>
</a:theme>
</file>

<file path=ppt/theme/theme2.xml><?xml version="1.0" encoding="utf-8"?>
<a:theme xmlns:a="http://schemas.openxmlformats.org/drawingml/2006/main" name="Office 테마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1360506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TP102801108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706526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249165-F638-412C-8E0A-DFB7045CA2E0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4873beb7-5857-4685-be1f-d57550cc96cc"/>
    <ds:schemaRef ds:uri="http://www.w3.org/XML/1998/namespace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11E33DF-2340-4F4E-B874-B73FEFEBFC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83C129-7B42-490A-AD74-E9303BC76D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고요한 자연 프레젠테이션(와이드스크린)</Template>
  <TotalTime>3657</TotalTime>
  <Words>176</Words>
  <Application>Microsoft Office PowerPoint</Application>
  <PresentationFormat>사용자 지정</PresentationFormat>
  <Paragraphs>48</Paragraphs>
  <Slides>7</Slides>
  <Notes>7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굴림</vt:lpstr>
      <vt:lpstr>돋움체</vt:lpstr>
      <vt:lpstr>Malgun Gothic</vt:lpstr>
      <vt:lpstr>Malgun Gothic</vt:lpstr>
      <vt:lpstr>바탕</vt:lpstr>
      <vt:lpstr>Arial</vt:lpstr>
      <vt:lpstr>Euphemia</vt:lpstr>
      <vt:lpstr>고요함 16 x 9</vt:lpstr>
      <vt:lpstr>미세먼지 농도 및 건강관리</vt:lpstr>
      <vt:lpstr>미세먼지란?</vt:lpstr>
      <vt:lpstr>미세먼지의 원인</vt:lpstr>
      <vt:lpstr>미세먼지 관련 질환 발생 현황 차트</vt:lpstr>
      <vt:lpstr>미세먼지 발생시 행동 요령</vt:lpstr>
      <vt:lpstr>미세먼지 등급</vt:lpstr>
      <vt:lpstr>미세먼지 관련 질환 발생 현황표</vt:lpstr>
      <vt:lpstr>발표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미세먼지 농도 및 건강관리</dc:title>
  <dc:creator>정동임</dc:creator>
  <cp:lastModifiedBy>정동임</cp:lastModifiedBy>
  <cp:revision>27</cp:revision>
  <dcterms:created xsi:type="dcterms:W3CDTF">2018-02-18T09:41:41Z</dcterms:created>
  <dcterms:modified xsi:type="dcterms:W3CDTF">2018-04-14T15:50:52Z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