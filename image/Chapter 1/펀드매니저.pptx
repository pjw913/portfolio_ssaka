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61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보통 스타일 3 - 강조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보통 스타일 3 - 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2" autoAdjust="0"/>
    <p:restoredTop sz="94655" autoAdjust="0"/>
  </p:normalViewPr>
  <p:slideViewPr>
    <p:cSldViewPr snapToGrid="0">
      <p:cViewPr varScale="1">
        <p:scale>
          <a:sx n="62" d="100"/>
          <a:sy n="62" d="100"/>
        </p:scale>
        <p:origin x="9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/>
              <a:t>자격시험 응시자 및 합격자</a:t>
            </a:r>
            <a:r>
              <a:rPr lang="en-US"/>
              <a:t>(</a:t>
            </a:r>
            <a:r>
              <a:rPr lang="ko-KR"/>
              <a:t>단위 </a:t>
            </a:r>
            <a:r>
              <a:rPr lang="en-US"/>
              <a:t>: </a:t>
            </a:r>
            <a:r>
              <a:rPr lang="ko-KR"/>
              <a:t>백명</a:t>
            </a:r>
            <a:r>
              <a:rPr lang="en-US"/>
              <a:t>)</a:t>
            </a:r>
            <a:endParaRPr lang="ko-KR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2226269981801693"/>
          <c:y val="0.18342068556616825"/>
          <c:w val="0.8047824644592767"/>
          <c:h val="0.543593979558268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응시자</c:v>
                </c:pt>
              </c:strCache>
            </c:strRef>
          </c:tx>
          <c:spPr>
            <a:pattFill prst="narHorz">
              <a:fgClr>
                <a:schemeClr val="accent1"/>
              </a:fgClr>
              <a:bgClr>
                <a:schemeClr val="accent1"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1"/>
              </a:innerShdw>
            </a:effectLst>
          </c:spPr>
          <c:invertIfNegative val="0"/>
          <c:cat>
            <c:strRef>
              <c:f>Sheet1!$B$1:$F$1</c:f>
              <c:strCache>
                <c:ptCount val="5"/>
                <c:pt idx="0">
                  <c:v>증권</c:v>
                </c:pt>
                <c:pt idx="1">
                  <c:v>증권투자</c:v>
                </c:pt>
                <c:pt idx="2">
                  <c:v>파생상품</c:v>
                </c:pt>
                <c:pt idx="3">
                  <c:v>부동산</c:v>
                </c:pt>
                <c:pt idx="4">
                  <c:v>파생상품투자</c:v>
                </c:pt>
              </c:strCache>
            </c:strRef>
          </c:cat>
          <c:val>
            <c:numRef>
              <c:f>Sheet1!$B$2:$F$2</c:f>
              <c:numCache>
                <c:formatCode>#,##0_ </c:formatCode>
                <c:ptCount val="5"/>
                <c:pt idx="0">
                  <c:v>689</c:v>
                </c:pt>
                <c:pt idx="1">
                  <c:v>310</c:v>
                </c:pt>
                <c:pt idx="2">
                  <c:v>959</c:v>
                </c:pt>
                <c:pt idx="3">
                  <c:v>1019</c:v>
                </c:pt>
                <c:pt idx="4">
                  <c:v>291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93-4477-8EA0-368A0E13D0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0183552"/>
        <c:axId val="90185088"/>
      </c:barChart>
      <c:lineChart>
        <c:grouping val="standard"/>
        <c:varyColors val="0"/>
        <c:ser>
          <c:idx val="1"/>
          <c:order val="1"/>
          <c:tx>
            <c:strRef>
              <c:f>Sheet1!$A$3</c:f>
              <c:strCache>
                <c:ptCount val="1"/>
                <c:pt idx="0">
                  <c:v>합격자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chemeClr val="accent2"/>
              </a:solidFill>
              <a:ln>
                <a:noFill/>
              </a:ln>
              <a:effectLst/>
            </c:spPr>
          </c:marker>
          <c:cat>
            <c:strRef>
              <c:f>Sheet1!$B$1:$F$1</c:f>
              <c:strCache>
                <c:ptCount val="5"/>
                <c:pt idx="0">
                  <c:v>증권</c:v>
                </c:pt>
                <c:pt idx="1">
                  <c:v>증권투자</c:v>
                </c:pt>
                <c:pt idx="2">
                  <c:v>파생상품</c:v>
                </c:pt>
                <c:pt idx="3">
                  <c:v>부동산</c:v>
                </c:pt>
                <c:pt idx="4">
                  <c:v>파생상품투자</c:v>
                </c:pt>
              </c:strCache>
            </c:strRef>
          </c:cat>
          <c:val>
            <c:numRef>
              <c:f>Sheet1!$B$3:$F$3</c:f>
              <c:numCache>
                <c:formatCode>#,##0_ </c:formatCode>
                <c:ptCount val="5"/>
                <c:pt idx="0">
                  <c:v>249</c:v>
                </c:pt>
                <c:pt idx="1">
                  <c:v>99</c:v>
                </c:pt>
                <c:pt idx="2">
                  <c:v>625</c:v>
                </c:pt>
                <c:pt idx="3">
                  <c:v>637</c:v>
                </c:pt>
                <c:pt idx="4">
                  <c:v>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393-4477-8EA0-368A0E13D0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0221184"/>
        <c:axId val="90219648"/>
      </c:lineChart>
      <c:catAx>
        <c:axId val="90183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0185088"/>
        <c:crosses val="autoZero"/>
        <c:auto val="1"/>
        <c:lblAlgn val="ctr"/>
        <c:lblOffset val="100"/>
        <c:noMultiLvlLbl val="0"/>
      </c:catAx>
      <c:valAx>
        <c:axId val="90185088"/>
        <c:scaling>
          <c:orientation val="minMax"/>
        </c:scaling>
        <c:delete val="0"/>
        <c:axPos val="l"/>
        <c:majorGridlines>
          <c:spPr>
            <a:ln>
              <a:solidFill>
                <a:schemeClr val="tx1">
                  <a:lumMod val="15000"/>
                  <a:lumOff val="85000"/>
                </a:schemeClr>
              </a:solidFill>
            </a:ln>
            <a:effectLst/>
          </c:spPr>
        </c:majorGridlines>
        <c:numFmt formatCode="#,##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0183552"/>
        <c:crosses val="autoZero"/>
        <c:crossBetween val="between"/>
      </c:valAx>
      <c:valAx>
        <c:axId val="90219648"/>
        <c:scaling>
          <c:orientation val="minMax"/>
        </c:scaling>
        <c:delete val="0"/>
        <c:axPos val="r"/>
        <c:numFmt formatCode="#,##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0221184"/>
        <c:crosses val="max"/>
        <c:crossBetween val="between"/>
        <c:majorUnit val="200"/>
      </c:valAx>
      <c:catAx>
        <c:axId val="9022118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one"/>
        <c:crossAx val="9021964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2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15875" cap="flat" cmpd="sng" algn="ctr">
        <a:solidFill>
          <a:schemeClr val="tx1">
            <a:lumMod val="65000"/>
            <a:lumOff val="3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no1wowpass.tistory.com/entry/%ED%8E%80%EB%93%9C%ED%88%AC%EC%9E%90%EC%83%81%EB%8B%B4%EC%82%AC-%ED%8E%80%EB%93%9C%ED%88%AC%EC%9E%90%EC%83%81%EB%8B%B4%EC%82%AC-%EC%95%88%EB%82%B4-%EB%B0%8F-%EC%8B%9C%ED%97%98%EC%9D%BC%EC%A0%95-%EC%86%8C%EA%B0%9C-%EC%99%80%EC%9A%B0%ED%8C%A8%EC%8A%A4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61999"/>
            <a:ext cx="8296102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545484" y="761999"/>
            <a:ext cx="3650097" cy="5334001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663861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663861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2/22/2018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2/22/2018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2/22/2018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2/22/2018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2/22/2018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2/22/2018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2/22/2018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2/22/2018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2/22/2018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2/22/2018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2/22/2018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2/22/2018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1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1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1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1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1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A29802-79BC-4230-9B6B-B7EDF721EF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>
                <a:effectLst>
                  <a:reflection blurRad="6350" stA="55000" endA="50" endPos="85000" dir="5400000" sy="-100000" algn="bl" rotWithShape="0"/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Fund Manager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09585AD-90E3-4E8D-8934-02E147F9E7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발표자 </a:t>
            </a:r>
            <a:r>
              <a:rPr lang="en-US" altLang="ko-KR" dirty="0"/>
              <a:t>: </a:t>
            </a:r>
            <a:r>
              <a:rPr lang="ko-KR" altLang="en-US" dirty="0"/>
              <a:t>홍길동</a:t>
            </a:r>
          </a:p>
        </p:txBody>
      </p:sp>
    </p:spTree>
    <p:extLst>
      <p:ext uri="{BB962C8B-B14F-4D97-AF65-F5344CB8AC3E}">
        <p14:creationId xmlns:p14="http://schemas.microsoft.com/office/powerpoint/2010/main" val="1129464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FA06FEAF-9896-4D09-93C7-D476E2021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개요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C3FA2EA-A163-4FE1-913E-326ACF8CD3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굴림" pitchFamily="50" charset="-127"/>
                <a:ea typeface="굴림" pitchFamily="50" charset="-127"/>
              </a:rPr>
              <a:t>펀드 재산을 실제로 운용하는 자산 운용 전문가로서 일정 자격을 갖추었거나 자격시험에 합격한 자</a:t>
            </a:r>
            <a:endParaRPr lang="en-US" altLang="ko-KR" sz="2400" b="1" dirty="0">
              <a:latin typeface="굴림" pitchFamily="50" charset="-127"/>
              <a:ea typeface="굴림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굴림" pitchFamily="50" charset="-127"/>
                <a:ea typeface="굴림" pitchFamily="50" charset="-127"/>
              </a:rPr>
              <a:t>은행</a:t>
            </a:r>
            <a:r>
              <a:rPr lang="en-US" altLang="ko-KR" sz="2000" dirty="0">
                <a:latin typeface="굴림" pitchFamily="50" charset="-127"/>
                <a:ea typeface="굴림" pitchFamily="50" charset="-127"/>
              </a:rPr>
              <a:t>, </a:t>
            </a:r>
            <a:r>
              <a:rPr lang="ko-KR" altLang="en-US" sz="2000" dirty="0">
                <a:latin typeface="굴림" pitchFamily="50" charset="-127"/>
                <a:ea typeface="굴림" pitchFamily="50" charset="-127"/>
              </a:rPr>
              <a:t>보험 회사</a:t>
            </a:r>
            <a:r>
              <a:rPr lang="en-US" altLang="ko-KR" sz="2000" dirty="0">
                <a:latin typeface="굴림" pitchFamily="50" charset="-127"/>
                <a:ea typeface="굴림" pitchFamily="50" charset="-127"/>
              </a:rPr>
              <a:t>, </a:t>
            </a:r>
            <a:r>
              <a:rPr lang="ko-KR" altLang="en-US" sz="2000" dirty="0">
                <a:latin typeface="굴림" pitchFamily="50" charset="-127"/>
                <a:ea typeface="굴림" pitchFamily="50" charset="-127"/>
              </a:rPr>
              <a:t>연금</a:t>
            </a:r>
            <a:r>
              <a:rPr lang="en-US" altLang="ko-KR" sz="2000" dirty="0">
                <a:latin typeface="굴림" pitchFamily="50" charset="-127"/>
                <a:ea typeface="굴림" pitchFamily="50" charset="-127"/>
              </a:rPr>
              <a:t>, </a:t>
            </a:r>
            <a:r>
              <a:rPr lang="ko-KR" altLang="en-US" sz="2000" dirty="0">
                <a:latin typeface="굴림" pitchFamily="50" charset="-127"/>
                <a:ea typeface="굴림" pitchFamily="50" charset="-127"/>
              </a:rPr>
              <a:t>기금 등에서 투자 운영을 담당하는 자</a:t>
            </a:r>
            <a:endParaRPr lang="en-US" altLang="ko-KR" sz="2000" dirty="0">
              <a:latin typeface="굴림" pitchFamily="50" charset="-127"/>
              <a:ea typeface="굴림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80251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C3ADD1-C9D9-4AD6-B6D3-F63BD2A34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자격 요건</a:t>
            </a:r>
          </a:p>
        </p:txBody>
      </p:sp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8EAC1669-592E-4DFF-B1BC-2054BFF8B3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7325422"/>
              </p:ext>
            </p:extLst>
          </p:nvPr>
        </p:nvGraphicFramePr>
        <p:xfrm>
          <a:off x="3853498" y="826008"/>
          <a:ext cx="7315200" cy="5196839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922462">
                  <a:extLst>
                    <a:ext uri="{9D8B030D-6E8A-4147-A177-3AD203B41FA5}">
                      <a16:colId xmlns:a16="http://schemas.microsoft.com/office/drawing/2014/main" val="2187643512"/>
                    </a:ext>
                  </a:extLst>
                </a:gridCol>
                <a:gridCol w="2696369">
                  <a:extLst>
                    <a:ext uri="{9D8B030D-6E8A-4147-A177-3AD203B41FA5}">
                      <a16:colId xmlns:a16="http://schemas.microsoft.com/office/drawing/2014/main" val="3914664915"/>
                    </a:ext>
                  </a:extLst>
                </a:gridCol>
                <a:gridCol w="2696369">
                  <a:extLst>
                    <a:ext uri="{9D8B030D-6E8A-4147-A177-3AD203B41FA5}">
                      <a16:colId xmlns:a16="http://schemas.microsoft.com/office/drawing/2014/main" val="385879683"/>
                    </a:ext>
                  </a:extLst>
                </a:gridCol>
              </a:tblGrid>
              <a:tr h="605459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자격 요건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469907"/>
                  </a:ext>
                </a:extLst>
              </a:tr>
              <a:tr h="229569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시험 응시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증권 운용 능력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증권 관련 분야 석사학위 보유</a:t>
                      </a:r>
                      <a:r>
                        <a:rPr kumimoji="1" lang="en-US" altLang="ko-KR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1" lang="ko-KR" alt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금융위원회 인정 교육과정 이수</a:t>
                      </a:r>
                      <a:r>
                        <a:rPr kumimoji="1" lang="en-US" altLang="ko-KR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1" lang="ko-KR" alt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금융기관 등에서 </a:t>
                      </a:r>
                      <a:r>
                        <a:rPr kumimoji="1" lang="en-US" altLang="ko-KR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</a:t>
                      </a:r>
                      <a:r>
                        <a:rPr kumimoji="1" lang="ko-KR" alt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년 이상 근무</a:t>
                      </a:r>
                      <a:r>
                        <a:rPr kumimoji="1" lang="en-US" altLang="ko-KR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+ </a:t>
                      </a:r>
                      <a:r>
                        <a:rPr kumimoji="1" lang="ko-KR" alt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증권 운용 전문업무 </a:t>
                      </a:r>
                      <a:r>
                        <a:rPr kumimoji="1" lang="en-US" altLang="ko-KR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</a:t>
                      </a:r>
                      <a:r>
                        <a:rPr kumimoji="1" lang="ko-KR" alt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년 이상 종사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436005274"/>
                  </a:ext>
                </a:extLst>
              </a:tr>
              <a:tr h="229569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등록 교육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부동산 운용 능력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부동산 관련 분야 석사학위 보유</a:t>
                      </a:r>
                      <a:r>
                        <a:rPr kumimoji="1" lang="en-US" altLang="ko-KR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1" lang="ko-KR" alt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외국 부동산 투자 회사 </a:t>
                      </a:r>
                      <a:r>
                        <a:rPr kumimoji="1" lang="en-US" altLang="ko-KR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+ </a:t>
                      </a:r>
                      <a:r>
                        <a:rPr kumimoji="1" lang="ko-KR" alt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부동산 운용 업무 </a:t>
                      </a:r>
                      <a:r>
                        <a:rPr kumimoji="1" lang="en-US" altLang="ko-KR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</a:t>
                      </a:r>
                      <a:r>
                        <a:rPr kumimoji="1" lang="ko-KR" alt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년 이상 종사</a:t>
                      </a:r>
                      <a:r>
                        <a:rPr kumimoji="1" lang="en-US" altLang="ko-KR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1" lang="ko-KR" alt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부동산 회사에서 부동산 운용 업무 </a:t>
                      </a:r>
                      <a:r>
                        <a:rPr kumimoji="1" lang="en-US" altLang="ko-KR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</a:t>
                      </a:r>
                      <a:r>
                        <a:rPr kumimoji="1" lang="ko-KR" alt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년 이상 종사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7726629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5710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BA4E3A-4ED1-4367-AFFF-4351FE27E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펀드 관련 </a:t>
            </a:r>
            <a:br>
              <a:rPr lang="en-US" altLang="ko-KR" dirty="0"/>
            </a:br>
            <a:r>
              <a:rPr lang="ko-KR" altLang="en-US" dirty="0"/>
              <a:t>자격시험 </a:t>
            </a:r>
            <a:br>
              <a:rPr lang="en-US" altLang="ko-KR" dirty="0"/>
            </a:br>
            <a:r>
              <a:rPr lang="ko-KR" altLang="en-US" dirty="0"/>
              <a:t>응시현황</a:t>
            </a:r>
          </a:p>
        </p:txBody>
      </p:sp>
      <p:graphicFrame>
        <p:nvGraphicFramePr>
          <p:cNvPr id="4" name="차트 3">
            <a:extLst>
              <a:ext uri="{FF2B5EF4-FFF2-40B4-BE49-F238E27FC236}">
                <a16:creationId xmlns:a16="http://schemas.microsoft.com/office/drawing/2014/main" id="{54E8965E-3B33-4592-90DF-328BEDFECE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9451814"/>
              </p:ext>
            </p:extLst>
          </p:nvPr>
        </p:nvGraphicFramePr>
        <p:xfrm>
          <a:off x="3479260" y="1630680"/>
          <a:ext cx="7950740" cy="4460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81278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118AF4-BCF3-4A79-9EB3-1012B081E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펀드 </a:t>
            </a:r>
            <a:br>
              <a:rPr lang="en-US" altLang="ko-KR" dirty="0"/>
            </a:br>
            <a:r>
              <a:rPr lang="ko-KR" altLang="en-US" dirty="0"/>
              <a:t>기초정보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2958ED-8056-4DBA-B169-866DD6809D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ko-KR" altLang="en-US" b="1" dirty="0"/>
              <a:t>펀드 운용사</a:t>
            </a:r>
            <a:br>
              <a:rPr lang="en-US" altLang="ko-KR" b="1" dirty="0"/>
            </a:br>
            <a:r>
              <a:rPr lang="en-US" altLang="ko-KR" dirty="0"/>
              <a:t>00</a:t>
            </a:r>
            <a:r>
              <a:rPr lang="ko-KR" altLang="en-US" dirty="0"/>
              <a:t>자산운용</a:t>
            </a:r>
            <a:r>
              <a:rPr lang="en-US" altLang="ko-KR" dirty="0"/>
              <a:t>, 00</a:t>
            </a:r>
            <a:r>
              <a:rPr lang="ko-KR" altLang="en-US" dirty="0"/>
              <a:t>투신운용과 같은 이름을 가진 회사들이 펀드 운용사이다</a:t>
            </a:r>
            <a:r>
              <a:rPr lang="en-US" altLang="ko-KR" dirty="0"/>
              <a:t>. </a:t>
            </a:r>
            <a:r>
              <a:rPr lang="ko-KR" altLang="en-US" dirty="0"/>
              <a:t>이들은 펀드를 만들고 운용하는 역할을 한다</a:t>
            </a:r>
            <a:r>
              <a:rPr lang="en-US" altLang="ko-KR" dirty="0"/>
              <a:t>. </a:t>
            </a:r>
            <a:r>
              <a:rPr lang="ko-KR" altLang="en-US" dirty="0"/>
              <a:t>운용사는 펀드매니저</a:t>
            </a:r>
            <a:r>
              <a:rPr lang="en-US" altLang="ko-KR" dirty="0"/>
              <a:t>, </a:t>
            </a:r>
            <a:r>
              <a:rPr lang="ko-KR" altLang="en-US" dirty="0"/>
              <a:t>애널리스트라 불리는 기업분석가</a:t>
            </a:r>
            <a:r>
              <a:rPr lang="en-US" altLang="ko-KR" dirty="0"/>
              <a:t>, </a:t>
            </a:r>
            <a:r>
              <a:rPr lang="ko-KR" altLang="en-US" dirty="0"/>
              <a:t>리스크 관리자 등 다양한 전문가들로 구성되어 있다</a:t>
            </a:r>
            <a:r>
              <a:rPr lang="en-US" altLang="ko-KR" dirty="0"/>
              <a:t>. </a:t>
            </a:r>
            <a:endParaRPr lang="ko-KR" altLang="en-US" dirty="0"/>
          </a:p>
          <a:p>
            <a:pPr>
              <a:lnSpc>
                <a:spcPct val="100000"/>
              </a:lnSpc>
            </a:pPr>
            <a:r>
              <a:rPr lang="ko-KR" altLang="en-US" b="1" dirty="0"/>
              <a:t>펀드 </a:t>
            </a:r>
            <a:r>
              <a:rPr lang="ko-KR" altLang="en-US" b="1" dirty="0" err="1"/>
              <a:t>판매사</a:t>
            </a:r>
            <a:br>
              <a:rPr lang="en-US" altLang="ko-KR" b="1" dirty="0"/>
            </a:br>
            <a:r>
              <a:rPr lang="ko-KR" altLang="en-US" dirty="0"/>
              <a:t>말 그대로 펀드를 고객에게 판매하는 곳으로</a:t>
            </a:r>
            <a:r>
              <a:rPr lang="en-US" altLang="ko-KR" dirty="0"/>
              <a:t>, </a:t>
            </a:r>
            <a:r>
              <a:rPr lang="ko-KR" altLang="en-US" dirty="0"/>
              <a:t>은행과 증권사가 여기에 해당된다</a:t>
            </a:r>
            <a:r>
              <a:rPr lang="en-US" altLang="ko-KR" dirty="0"/>
              <a:t>.</a:t>
            </a:r>
          </a:p>
          <a:p>
            <a:pPr>
              <a:lnSpc>
                <a:spcPct val="100000"/>
              </a:lnSpc>
            </a:pPr>
            <a:r>
              <a:rPr lang="ko-KR" altLang="en-US" b="1" dirty="0"/>
              <a:t>펀드 </a:t>
            </a:r>
            <a:r>
              <a:rPr lang="ko-KR" altLang="en-US" b="1" dirty="0" err="1"/>
              <a:t>수탁사</a:t>
            </a:r>
            <a:br>
              <a:rPr lang="en-US" altLang="ko-KR" b="1" dirty="0"/>
            </a:br>
            <a:r>
              <a:rPr lang="ko-KR" altLang="en-US" dirty="0"/>
              <a:t>펀드재산을 안전하게 보관하는 일종의 금고같은 기관으로 주로 은행이 수탁사의 역할을 한다</a:t>
            </a:r>
            <a:r>
              <a:rPr lang="en-US" altLang="ko-KR" dirty="0"/>
              <a:t>. </a:t>
            </a:r>
            <a:r>
              <a:rPr lang="ko-KR" altLang="en-US" dirty="0"/>
              <a:t>투자자들이 펀드에 </a:t>
            </a:r>
            <a:br>
              <a:rPr lang="ko-KR" altLang="en-US" dirty="0"/>
            </a:br>
            <a:r>
              <a:rPr lang="ko-KR" altLang="en-US" dirty="0"/>
              <a:t>가입해 돈을 입금하면 그 자금은 운용사로 가는 것이 아니라 수탁사로 간다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수탁사는 일종의 투자자 보호장치인 셈이다</a:t>
            </a:r>
            <a:r>
              <a:rPr lang="en-US" altLang="ko-KR" dirty="0"/>
              <a:t>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0732437"/>
      </p:ext>
    </p:extLst>
  </p:cSld>
  <p:clrMapOvr>
    <a:masterClrMapping/>
  </p:clrMapOvr>
</p:sld>
</file>

<file path=ppt/theme/theme1.xml><?xml version="1.0" encoding="utf-8"?>
<a:theme xmlns:a="http://schemas.openxmlformats.org/drawingml/2006/main" name="틀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TM03457475[[fn=틀]]</Template>
  <TotalTime>2684</TotalTime>
  <Words>114</Words>
  <Application>Microsoft Office PowerPoint</Application>
  <PresentationFormat>와이드스크린</PresentationFormat>
  <Paragraphs>20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2" baseType="lpstr">
      <vt:lpstr>HY중고딕</vt:lpstr>
      <vt:lpstr>굴림</vt:lpstr>
      <vt:lpstr>돋움</vt:lpstr>
      <vt:lpstr>Corbel</vt:lpstr>
      <vt:lpstr>Wingdings</vt:lpstr>
      <vt:lpstr>Wingdings 2</vt:lpstr>
      <vt:lpstr>틀</vt:lpstr>
      <vt:lpstr>Fund Manager</vt:lpstr>
      <vt:lpstr>개요</vt:lpstr>
      <vt:lpstr>자격 요건</vt:lpstr>
      <vt:lpstr>펀드 관련  자격시험  응시현황</vt:lpstr>
      <vt:lpstr>펀드  기초정보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 Manager</dc:title>
  <dc:creator>정동임</dc:creator>
  <cp:lastModifiedBy>정동임</cp:lastModifiedBy>
  <cp:revision>16</cp:revision>
  <dcterms:created xsi:type="dcterms:W3CDTF">2018-02-07T06:30:21Z</dcterms:created>
  <dcterms:modified xsi:type="dcterms:W3CDTF">2018-02-21T23:31:23Z</dcterms:modified>
</cp:coreProperties>
</file>