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73152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>
      <p:cViewPr varScale="1">
        <p:scale>
          <a:sx n="50" d="100"/>
          <a:sy n="50" d="100"/>
        </p:scale>
        <p:origin x="12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단행본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1-4EA6-B85B-669E2D067D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학위논문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31-4EA6-B85B-669E2D067D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학술지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31-4EA6-B85B-669E2D067D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인터넷자원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31-4EA6-B85B-669E2D067D8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외국법률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31-4EA6-B85B-669E2D067D8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참고DB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목록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31-4EA6-B85B-669E2D067D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454589392"/>
        <c:axId val="1453022208"/>
        <c:axId val="0"/>
      </c:bar3DChart>
      <c:catAx>
        <c:axId val="1454589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3022208"/>
        <c:crosses val="autoZero"/>
        <c:auto val="1"/>
        <c:lblAlgn val="ctr"/>
        <c:lblOffset val="100"/>
        <c:noMultiLvlLbl val="0"/>
      </c:catAx>
      <c:valAx>
        <c:axId val="1453022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4589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0D8D7-84DD-4415-8B11-3BD491E8B82E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1143000"/>
            <a:ext cx="2244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D0D9E-5D69-404A-BD83-DDA76A9997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53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국회와 국민에게 최상의 서비스 제공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D0D9E-5D69-404A-BD83-DDA76A9997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050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077" y="2623066"/>
            <a:ext cx="5016738" cy="3077398"/>
          </a:xfrm>
        </p:spPr>
        <p:txBody>
          <a:bodyPr anchor="b">
            <a:noAutofit/>
          </a:bodyPr>
          <a:lstStyle>
            <a:lvl1pPr algn="ctr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944" y="5802545"/>
            <a:ext cx="4099004" cy="159314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1715" y="9464966"/>
            <a:ext cx="964766" cy="59343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50433" y="9464966"/>
            <a:ext cx="4214026" cy="59343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98410" y="9464966"/>
            <a:ext cx="957775" cy="59343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451715" y="1091889"/>
            <a:ext cx="6404471" cy="7846184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663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24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015" y="1908664"/>
            <a:ext cx="5767782" cy="4184014"/>
          </a:xfrm>
        </p:spPr>
        <p:txBody>
          <a:bodyPr anchor="b">
            <a:normAutofit/>
          </a:bodyPr>
          <a:lstStyle>
            <a:lvl1pPr algn="r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9015" y="6183948"/>
            <a:ext cx="5767782" cy="1676875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440">
                <a:solidFill>
                  <a:schemeClr val="tx2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3345" y="9464966"/>
            <a:ext cx="973446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50588" y="9464966"/>
            <a:ext cx="4214026" cy="59343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98410" y="9464966"/>
            <a:ext cx="957775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4891178" y="2472290"/>
            <a:ext cx="1965008" cy="6465782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4891178" y="2472290"/>
            <a:ext cx="1965008" cy="6465782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1475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3352801"/>
            <a:ext cx="2668672" cy="525272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5242" y="3352801"/>
            <a:ext cx="2668672" cy="525272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4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05840"/>
            <a:ext cx="5760720" cy="21793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432337"/>
            <a:ext cx="2668672" cy="120840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920" b="0" baseline="0">
                <a:solidFill>
                  <a:schemeClr val="tx2"/>
                </a:solidFill>
              </a:defRPr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4847639"/>
            <a:ext cx="2668671" cy="375788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15008" y="3446306"/>
            <a:ext cx="2668672" cy="120840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920" b="0" baseline="0">
                <a:solidFill>
                  <a:schemeClr val="tx2"/>
                </a:solidFill>
              </a:defRPr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15008" y="4847639"/>
            <a:ext cx="2668672" cy="375788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4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79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59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551"/>
            <a:ext cx="3182112" cy="100578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" y="1005840"/>
            <a:ext cx="2313432" cy="3164897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52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612" y="1005841"/>
            <a:ext cx="3127248" cy="759036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080"/>
            </a:lvl3pPr>
            <a:lvl4pPr>
              <a:defRPr sz="108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340" y="4189305"/>
            <a:ext cx="2313432" cy="4416215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  <a:buNone/>
              <a:defRPr sz="128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4341" y="9464966"/>
            <a:ext cx="722743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23567" y="9464966"/>
            <a:ext cx="1424205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29885" y="9464966"/>
            <a:ext cx="957775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3182112" y="551"/>
            <a:ext cx="137160" cy="1005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182112" y="551"/>
            <a:ext cx="137160" cy="1005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3612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551"/>
            <a:ext cx="3182112" cy="100578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" y="1005840"/>
            <a:ext cx="2313432" cy="3164897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52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19272" y="2"/>
            <a:ext cx="3995928" cy="100583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274320" indent="0">
              <a:buNone/>
              <a:defRPr sz="1200"/>
            </a:lvl2pPr>
            <a:lvl3pPr marL="548640" indent="0">
              <a:buNone/>
              <a:defRPr sz="120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340" y="4188753"/>
            <a:ext cx="2313432" cy="4416767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  <a:buNone/>
              <a:defRPr sz="128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4341" y="9464966"/>
            <a:ext cx="722743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23567" y="9464966"/>
            <a:ext cx="1424205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29885" y="9464966"/>
            <a:ext cx="957775" cy="5934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3182112" y="551"/>
            <a:ext cx="137160" cy="1005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182112" y="551"/>
            <a:ext cx="137160" cy="1005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184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3366772"/>
            <a:ext cx="5760720" cy="52387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3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04638" y="915429"/>
            <a:ext cx="1192760" cy="769009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915429"/>
            <a:ext cx="4579620" cy="769009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31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1005840"/>
            <a:ext cx="5760720" cy="21793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52800"/>
            <a:ext cx="5760720" cy="5252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4390" y="9464966"/>
            <a:ext cx="722743" cy="59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fld id="{CA5DBB36-D873-410A-A10B-9524050F21E7}" type="datetimeFigureOut">
              <a:rPr lang="ko-KR" altLang="en-US" smtClean="0"/>
              <a:t>2018-04-13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36139" y="9464966"/>
            <a:ext cx="3768498" cy="59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83642" y="9464966"/>
            <a:ext cx="957775" cy="593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aseline="0">
                <a:solidFill>
                  <a:schemeClr val="tx2"/>
                </a:solidFill>
              </a:defRPr>
            </a:lvl1pPr>
          </a:lstStyle>
          <a:p>
            <a:fld id="{10F123F7-7E11-4203-B77D-A9A7FEDA643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286857" y="551"/>
            <a:ext cx="137160" cy="1005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286857" y="551"/>
            <a:ext cx="137160" cy="1005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049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40" rtl="0" eaLnBrk="1" latinLnBrk="1" hangingPunct="1">
        <a:lnSpc>
          <a:spcPct val="89000"/>
        </a:lnSpc>
        <a:spcBef>
          <a:spcPct val="0"/>
        </a:spcBef>
        <a:buNone/>
        <a:defRPr sz="352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7238" indent="-307238" algn="l" defTabSz="548640" rtl="0" eaLnBrk="1" latinLnBrk="1" hangingPunct="1">
        <a:lnSpc>
          <a:spcPct val="94000"/>
        </a:lnSpc>
        <a:spcBef>
          <a:spcPts val="800"/>
        </a:spcBef>
        <a:spcAft>
          <a:spcPts val="16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73152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9728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■"/>
        <a:defRPr sz="144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46304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–"/>
        <a:defRPr sz="144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■"/>
        <a:defRPr sz="128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19456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–"/>
        <a:defRPr sz="128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56032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■"/>
        <a:defRPr sz="112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92608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–"/>
        <a:defRPr sz="112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291840" indent="-307238" algn="l" defTabSz="548640" rtl="0" eaLnBrk="1" latinLnBrk="1" hangingPunct="1">
        <a:lnSpc>
          <a:spcPct val="94000"/>
        </a:lnSpc>
        <a:spcBef>
          <a:spcPts val="400"/>
        </a:spcBef>
        <a:spcAft>
          <a:spcPts val="160"/>
        </a:spcAft>
        <a:buFont typeface="Franklin Gothic Book" panose="020B0503020102020204" pitchFamily="34" charset="0"/>
        <a:buChar char="■"/>
        <a:defRPr sz="112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1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0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  <p15:guide id="11" orient="horz" pos="2006">
          <p15:clr>
            <a:srgbClr val="F26B43"/>
          </p15:clr>
        </p15:guide>
        <p15:guide id="12" orient="horz" pos="2112">
          <p15:clr>
            <a:srgbClr val="F26B43"/>
          </p15:clr>
        </p15:guide>
        <p15:guide id="13" orient="horz" pos="5421">
          <p15:clr>
            <a:srgbClr val="F26B43"/>
          </p15:clr>
        </p15:guide>
        <p15:guide id="14" orient="horz" pos="634">
          <p15:clr>
            <a:srgbClr val="F26B43"/>
          </p15:clr>
        </p15:guide>
        <p15:guide id="15" orient="horz" pos="2218">
          <p15:clr>
            <a:srgbClr val="F26B43"/>
          </p15:clr>
        </p15:guide>
        <p15:guide id="16" pos="4147">
          <p15:clr>
            <a:srgbClr val="F26B43"/>
          </p15:clr>
        </p15:guide>
        <p15:guide id="17" pos="562">
          <p15:clr>
            <a:srgbClr val="F26B43"/>
          </p15:clr>
        </p15:guide>
        <p15:guide id="18" pos="51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3B1DB-4223-4641-A85A-388568A01B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국회 도서관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83C59C-2789-41A4-A282-479179D23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+mj-lt"/>
                <a:ea typeface="굴림"/>
              </a:rPr>
              <a:t>National Assembly Library</a:t>
            </a:r>
            <a:endParaRPr lang="ko-KR" altLang="en-US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+mj-lt"/>
              <a:ea typeface="굴림"/>
            </a:endParaRPr>
          </a:p>
          <a:p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957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737DB-B336-49DC-B902-6B08F4A2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D2ABCA-8CD7-4A0B-A2D1-220056BEC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국회 도서관 소개</a:t>
            </a:r>
          </a:p>
          <a:p>
            <a:r>
              <a:rPr lang="ko-KR" altLang="en-US" dirty="0">
                <a:latin typeface="+mn-ea"/>
              </a:rPr>
              <a:t>국회 도서관 이용 방법</a:t>
            </a:r>
          </a:p>
          <a:p>
            <a:r>
              <a:rPr lang="ko-KR" altLang="en-US" dirty="0">
                <a:latin typeface="+mn-ea"/>
              </a:rPr>
              <a:t>소장 데이터베이스 현황</a:t>
            </a:r>
          </a:p>
          <a:p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828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850C7-28D2-4C98-B9AF-C53566C1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국회 도서관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DCDE6B-8598-4F36-8BAE-96412909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최고의 입법정보와 지식서비스를 제공하는 기관으로 입법지원기관에 필요한 정보를 제공하고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지방자치단체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공공기관 및 국민에 대한 지식과 정보를 제공하는 기관임</a:t>
            </a:r>
          </a:p>
          <a:p>
            <a:r>
              <a:rPr lang="ko-KR" altLang="en-US" dirty="0">
                <a:latin typeface="+mn-ea"/>
              </a:rPr>
              <a:t>국회도서관은 양질의 정보를 얻을 수 있도록 접근 방법을 다양화함</a:t>
            </a:r>
          </a:p>
        </p:txBody>
      </p:sp>
    </p:spTree>
    <p:extLst>
      <p:ext uri="{BB962C8B-B14F-4D97-AF65-F5344CB8AC3E}">
        <p14:creationId xmlns:p14="http://schemas.microsoft.com/office/powerpoint/2010/main" val="356669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23310-ACD0-450C-93FA-E88D6D134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국회 도서관 이용 방법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9C34C5D-A8E2-4B90-BE1C-5047D1E3E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118566"/>
              </p:ext>
            </p:extLst>
          </p:nvPr>
        </p:nvGraphicFramePr>
        <p:xfrm>
          <a:off x="822960" y="4343400"/>
          <a:ext cx="5760720" cy="1917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12262188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8724324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654109678"/>
                    </a:ext>
                  </a:extLst>
                </a:gridCol>
              </a:tblGrid>
              <a:tr h="222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열람 대상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이용</a:t>
                      </a:r>
                      <a:r>
                        <a:rPr lang="ko-KR" altLang="en-US" sz="1100" baseline="0" dirty="0">
                          <a:latin typeface="+mn-ea"/>
                          <a:ea typeface="+mn-ea"/>
                        </a:rPr>
                        <a:t> 시간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휴관일 안내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4033244195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marL="552450" marR="0" lvl="0" indent="-55245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전직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현직 국회의원 및</a:t>
                      </a:r>
                    </a:p>
                    <a:p>
                      <a:pPr marL="552450" marR="0" lvl="0" indent="-55245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국회소속 공무원</a:t>
                      </a:r>
                    </a:p>
                  </a:txBody>
                  <a:tcPr marL="54864" marR="54864" marT="27432" marB="27432"/>
                </a:tc>
                <a:tc rowSpan="2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월요일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금요일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09:00-18:00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현충일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2261651330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대학생 및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 이상인 자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54864" marR="54864" marT="27432" marB="2743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 휴관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891570431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평생열람증 및 명예열람증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장기열람증 소지자</a:t>
                      </a:r>
                    </a:p>
                  </a:txBody>
                  <a:tcPr marL="54864" marR="54864" marT="27432" marB="27432"/>
                </a:tc>
                <a:tc rowSpan="2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토요일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일요일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09:00-17:00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 휴관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3312390205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도서관 이용이 필요하다고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국회도서관장이 인정한 자</a:t>
                      </a:r>
                    </a:p>
                  </a:txBody>
                  <a:tcPr marL="54864" marR="54864" marT="27432" marB="2743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 휴관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285738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04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DF1F9-1F89-461D-A750-CF900B99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소장 데이터베이스 현황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6865F11-8DE7-426C-B624-736711A3F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707105"/>
              </p:ext>
            </p:extLst>
          </p:nvPr>
        </p:nvGraphicFramePr>
        <p:xfrm>
          <a:off x="1778353" y="3829052"/>
          <a:ext cx="4379661" cy="3008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3856652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398</TotalTime>
  <Words>131</Words>
  <Application>Microsoft Office PowerPoint</Application>
  <PresentationFormat>사용자 지정</PresentationFormat>
  <Paragraphs>34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굴림</vt:lpstr>
      <vt:lpstr>돋움</vt:lpstr>
      <vt:lpstr>맑은 고딕</vt:lpstr>
      <vt:lpstr>Franklin Gothic Book</vt:lpstr>
      <vt:lpstr>자르기</vt:lpstr>
      <vt:lpstr>국회 도서관</vt:lpstr>
      <vt:lpstr>Contents</vt:lpstr>
      <vt:lpstr>국회 도서관 소개</vt:lpstr>
      <vt:lpstr>국회 도서관 이용 방법</vt:lpstr>
      <vt:lpstr>소장 데이터베이스 현황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국회도서관소개</dc:title>
  <dc:creator>정동임</dc:creator>
  <cp:lastModifiedBy>정동임</cp:lastModifiedBy>
  <cp:revision>8</cp:revision>
  <dcterms:created xsi:type="dcterms:W3CDTF">2018-02-13T15:50:57Z</dcterms:created>
  <dcterms:modified xsi:type="dcterms:W3CDTF">2018-04-12T17:10:12Z</dcterms:modified>
</cp:coreProperties>
</file>